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Problema: un buen arsenal a nivel del mar vale menos en casa. Comparamos el mismo lanzamiento en dos aires con Stuff+ v2 en producción. Abrir con la decisión del coach: qué reclutar y cómo usarlo en casa.</a:t>
            </a:r>
          </a:p>
          <a:p>
            <a:r>
              <a:t>Fuentes: reports/altitude_delta/delta_by_shape.csv · promedio de la liga = ΔStuff+ de una forma − su diferencia contra la liga.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Densidad relativa estimada con el arrastre de las rectas. Son grupos de altitud; la identidad exacta del Harp Helú no está verificada.</a:t>
            </a:r>
          </a:p>
          <a:p>
            <a:r>
              <a:t>Fuentes: reports/physics/rho_by_bucket.csv · media por bucket; parques anónimos.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Observado dentro del mismo lanzador contra el cambio del modelo para la forma 4S. La elasticidad dice cuánto cae la fuerza de Magnus con la densidad: la física de libro dice 1, medimos más.</a:t>
            </a:r>
          </a:p>
          <a:p>
            <a:r>
              <a:t>Fuentes: reports/physics/delta_extreme_vs_no.csv; reports/altitude_delta/delta_by_shape.csv · 4S; reports/physics_v2/magnus_elasticity.csv.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75 s. Skill: fracción del RMSE que el modelo le quita al nulo por conteo, por pitcher. Stuff+ v2 deja que el conteo valore los resultados y ya le gana al nulo. A nivel pitcher, 50 lanzamientos de Stuff+ dicen más del resto de la temporada que los resultados del propio pitcher.</a:t>
            </a:r>
          </a:p>
          <a:p>
            <a:r>
              <a:t>Fuentes: reports/validation/headline.csv; reports/stuff_v2/skill.csv; reports/stuff_v2/pitcher_level.csv.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Se entrena sin un solo juego de altitud extrema y se predice esa altitud. El sesgo es carreras observadas menos predichas por lanzamiento: positivo = el modelo subestima el daño. Con la densidad del aire, Stuff+ v2 casi lo elimina.</a:t>
            </a:r>
          </a:p>
          <a:p>
            <a:r>
              <a:t>Fuentes: reports/stuff_v2/altitude_bias.csv · entrenado sin altitud extrema, evaluado en 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65 s. Ninguna forma gana en términos absolutos. La curva 12-6 y el sweeper pierden menos que la liga; la recta de mucho ride pierde más. Hipótesis operativa para reclutar: no pagar por ride de recta.</a:t>
            </a:r>
          </a:p>
          <a:p>
            <a:r>
              <a:t>Fuentes: reports/altitude_delta/delta_by_shape.csv · delta_stuff; misma forma, CDMX menos nivel del 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Identificación inferida: son las dos franquicias de aire más ligero, no un staff confirmado de Diablos. Carreras del modelo: mezcla de lanzamientos en casa más reasignación de aperturas. No sumar 5 y 11.</a:t>
            </a:r>
          </a:p>
          <a:p>
            <a:r>
              <a:t>Fuentes: reports/staff_audit/runs_saved.csv · franquicias 5 y 11, por separado.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s. Simulador 3D: el mismo release a nivel del mar y en el aire del Harp Helú, con el motor de vuelo que usa la elasticidad medida. El explicador de física deja mover la densidad y ver la subida perdida. Las cifras de la app salen de los mismos agregados.</a:t>
            </a:r>
          </a:p>
          <a:p>
            <a:r>
              <a:t>Fuentes: Capturas del simulador 3D y del explicador de física (Playwright, web/e2e/screenshots, HACK-051).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65 s. En altura se anota más, así que cada carrera ahorrada vale menos victorias. +10 puntos de Stuff+ sostenidos en 2,500 lanzamientos es un escenario de orden de magnitud, no el ahorro del staff de la lámina 7.</a:t>
            </a:r>
          </a:p>
          <a:p>
            <a:r>
              <a:t>Fuentes: reports/business_value/runs_per_win.csv; reports/business_value/gm_example.csv · puntos de Stuff+ v2 fuera de pliegue.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 s. Abrir el simulador con una forma y dos densidades, pasar al explicador de física y a la página de altitud. Si la red falla, quedarse en este PDF. Cerrar: las franquicias 5 y 11 no se suman y la sede no está confirmada.</a:t>
            </a:r>
          </a:p>
          <a:p>
            <a:r>
              <a:t>Fuentes: Producto web en el repo. Respaldo: este PDF y los CSV agregados de reports/.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3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8000" y="304800"/>
            <a:ext cx="101600" cy="101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241300"/>
            <a:ext cx="6096000" cy="205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900" b="1">
                <a:solidFill>
                  <a:srgbClr val="9EA1A7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1200" y="241300"/>
            <a:ext cx="3810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1">
                <a:solidFill>
                  <a:srgbClr val="D7192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84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El mismo arsenal pierde 13.0 puntos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965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de Stuff+ en el aire de CDMX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4572000"/>
            <a:ext cx="8128000" cy="10160"/>
          </a:xfrm>
          <a:prstGeom prst="rect">
            <a:avLst/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4660900"/>
            <a:ext cx="7747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750" b="0">
                <a:solidFill>
                  <a:srgbClr val="9EA1A7"/>
                </a:solidFill>
                <a:latin typeface="Arial"/>
              </a:defRPr>
            </a:pPr>
            <a:r>
              <a:t>reports/altitude_delta/delta_by_shape.csv · promedio de la liga = ΔStuff+ de una forma − su diferencia contra la liga.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1600200"/>
            <a:ext cx="3810000" cy="13863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400" b="1">
                <a:solidFill>
                  <a:srgbClr val="D71920"/>
                </a:solidFill>
                <a:latin typeface="Arial"/>
              </a:defRPr>
            </a:pPr>
            <a:r>
              <a:t>−13.0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1500" y="1752600"/>
            <a:ext cx="4254500" cy="317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50" b="1">
                <a:solidFill>
                  <a:srgbClr val="F4F4F5"/>
                </a:solidFill>
                <a:latin typeface="Arial"/>
              </a:defRPr>
            </a:pPr>
            <a:r>
              <a:t>ΔStuff+ de la liga en el aire del Harp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1500" y="2006600"/>
            <a:ext cx="4254500" cy="317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50" b="1">
                <a:solidFill>
                  <a:srgbClr val="F4F4F5"/>
                </a:solidFill>
                <a:latin typeface="Arial"/>
              </a:defRPr>
            </a:pPr>
            <a:r>
              <a:t>Helú.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2387600"/>
            <a:ext cx="42545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9EA1A7"/>
                </a:solidFill>
                <a:latin typeface="Arial"/>
              </a:defRPr>
            </a:pPr>
            <a:r>
              <a:t>El modelo mide el aire de cada juego y 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1500" y="2628900"/>
            <a:ext cx="42545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9EA1A7"/>
                </a:solidFill>
                <a:latin typeface="Arial"/>
              </a:defRPr>
            </a:pPr>
            <a:r>
              <a:t>extrapola a un aire que no vio.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000" y="3327400"/>
            <a:ext cx="8128000" cy="736600"/>
          </a:xfrm>
          <a:prstGeom prst="roundRect">
            <a:avLst>
              <a:gd name="adj" fmla="val 10344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8000" y="3327400"/>
            <a:ext cx="50800" cy="736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600" y="3454400"/>
            <a:ext cx="7747000" cy="292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Datos oficiales agregados. Identificación inferida: la sede del staff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600" y="3683000"/>
            <a:ext cx="7747000" cy="292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sigue sin confirmarse.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3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8000" y="304800"/>
            <a:ext cx="101600" cy="101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241300"/>
            <a:ext cx="6096000" cy="205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900" b="1">
                <a:solidFill>
                  <a:srgbClr val="9EA1A7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1200" y="241300"/>
            <a:ext cx="3810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1">
                <a:solidFill>
                  <a:srgbClr val="D7192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84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El aire estimado cambia entre ambientes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4572000"/>
            <a:ext cx="8128000" cy="10160"/>
          </a:xfrm>
          <a:prstGeom prst="rect">
            <a:avLst/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4660900"/>
            <a:ext cx="7747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750" b="0">
                <a:solidFill>
                  <a:srgbClr val="9EA1A7"/>
                </a:solidFill>
                <a:latin typeface="Arial"/>
              </a:defRPr>
            </a:pPr>
            <a:r>
              <a:t>reports/physics/rho_by_bucket.csv · media por bucket; parques anónimos.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7526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Nivel del mar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30500" y="17780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30500" y="1778000"/>
            <a:ext cx="3871594" cy="228600"/>
          </a:xfrm>
          <a:prstGeom prst="roundRect">
            <a:avLst>
              <a:gd name="adj" fmla="val 16666"/>
            </a:avLst>
          </a:prstGeom>
          <a:solidFill>
            <a:srgbClr val="9EA1A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0" y="17526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1.001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24638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Altitud media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30500" y="24892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30500" y="2489200"/>
            <a:ext cx="3450012" cy="228600"/>
          </a:xfrm>
          <a:prstGeom prst="roundRect">
            <a:avLst>
              <a:gd name="adj" fmla="val 16666"/>
            </a:avLst>
          </a:prstGeom>
          <a:solidFill>
            <a:srgbClr val="9EA1A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2800" y="24638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0.892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31750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Altitud extrema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30500" y="32004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30500" y="3200400"/>
            <a:ext cx="3252758" cy="228600"/>
          </a:xfrm>
          <a:prstGeom prst="roundRect">
            <a:avLst>
              <a:gd name="adj" fmla="val 16666"/>
            </a:avLst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31750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0.841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3860800"/>
            <a:ext cx="8128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9EA1A7"/>
                </a:solidFill>
                <a:latin typeface="Arial"/>
              </a:defRPr>
            </a:pPr>
            <a:r>
              <a:t>Densidad relativa: menor valor significa aire menos denso.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3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8000" y="304800"/>
            <a:ext cx="101600" cy="101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241300"/>
            <a:ext cx="6096000" cy="205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900" b="1">
                <a:solidFill>
                  <a:srgbClr val="9EA1A7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1200" y="241300"/>
            <a:ext cx="3810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1">
                <a:solidFill>
                  <a:srgbClr val="D7192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84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La recta pierde subida: el Magnus cae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965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más rápido que el aire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4572000"/>
            <a:ext cx="8128000" cy="10160"/>
          </a:xfrm>
          <a:prstGeom prst="rect">
            <a:avLst/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4660900"/>
            <a:ext cx="7747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750" b="0">
                <a:solidFill>
                  <a:srgbClr val="9EA1A7"/>
                </a:solidFill>
                <a:latin typeface="Arial"/>
              </a:defRPr>
            </a:pPr>
            <a:r>
              <a:t>reports/physics/delta_extreme_vs_no.csv; reports/altitude_delta/delta_by_shape.csv · 4S; reports/physics_v2/magnus_elasticity.csv.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000" y="1549400"/>
            <a:ext cx="2489200" cy="2108200"/>
          </a:xfrm>
          <a:prstGeom prst="roundRect">
            <a:avLst>
              <a:gd name="adj" fmla="val 3614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200" y="1727200"/>
            <a:ext cx="2082800" cy="6934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000" b="1">
                <a:solidFill>
                  <a:srgbClr val="D71920"/>
                </a:solidFill>
                <a:latin typeface="Arial"/>
              </a:defRPr>
            </a:pPr>
            <a:r>
              <a:t>−3.54"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300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Observado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" y="262763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altitud extrema − sin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4226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altitud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7400" y="1549400"/>
            <a:ext cx="2489200" cy="2108200"/>
          </a:xfrm>
          <a:prstGeom prst="roundRect">
            <a:avLst>
              <a:gd name="adj" fmla="val 3614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0600" y="1727200"/>
            <a:ext cx="2082800" cy="6934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000" b="1">
                <a:solidFill>
                  <a:srgbClr val="D71920"/>
                </a:solidFill>
                <a:latin typeface="Arial"/>
              </a:defRPr>
            </a:pPr>
            <a:r>
              <a:t>−3.56"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0600" y="241300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Modelo, forma 4S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0600" y="262763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CDMX − nivel del mar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6800" y="1549400"/>
            <a:ext cx="2489200" cy="2108200"/>
          </a:xfrm>
          <a:prstGeom prst="roundRect">
            <a:avLst>
              <a:gd name="adj" fmla="val 3614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0" y="1727200"/>
            <a:ext cx="2082800" cy="6934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000" b="1">
                <a:solidFill>
                  <a:srgbClr val="D71920"/>
                </a:solidFill>
                <a:latin typeface="Arial"/>
              </a:defRPr>
            </a:pPr>
            <a:r>
              <a:t>1.36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241300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Elasticidad del Magnus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262763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de la recta (libro: 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3860800"/>
            <a:ext cx="8128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9EA1A7"/>
                </a:solidFill>
                <a:latin typeface="Arial"/>
              </a:defRPr>
            </a:pPr>
            <a:r>
              <a:t>IVB: movimiento vertical inducido, pulgadas. El simulador usa la elasticidad medida.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3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8000" y="304800"/>
            <a:ext cx="101600" cy="101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241300"/>
            <a:ext cx="6096000" cy="205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900" b="1">
                <a:solidFill>
                  <a:srgbClr val="9EA1A7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1200" y="241300"/>
            <a:ext cx="3810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1">
                <a:solidFill>
                  <a:srgbClr val="D7192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84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Le ganamos al modelo nulo de la rúbrica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4572000"/>
            <a:ext cx="8128000" cy="10160"/>
          </a:xfrm>
          <a:prstGeom prst="rect">
            <a:avLst/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4660900"/>
            <a:ext cx="7747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750" b="0">
                <a:solidFill>
                  <a:srgbClr val="9EA1A7"/>
                </a:solidFill>
                <a:latin typeface="Arial"/>
              </a:defRPr>
            </a:pPr>
            <a:r>
              <a:t>reports/validation/headline.csv; reports/stuff_v2/skill.csv; reports/stuff_v2/pitcher_level.csv.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4986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Pitching+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30500" y="15240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30500" y="1524000"/>
            <a:ext cx="3301491" cy="228600"/>
          </a:xfrm>
          <a:prstGeom prst="roundRect">
            <a:avLst>
              <a:gd name="adj" fmla="val 16666"/>
            </a:avLst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0" y="14986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3.88 %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19050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Stuff+ v2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30500" y="19304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30500" y="1930400"/>
            <a:ext cx="153161" cy="228600"/>
          </a:xfrm>
          <a:prstGeom prst="roundRect">
            <a:avLst>
              <a:gd name="adj" fmla="val 24875"/>
            </a:avLst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2800" y="19050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+0.18 %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2311400"/>
            <a:ext cx="81280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0">
                <a:solidFill>
                  <a:srgbClr val="9EA1A7"/>
                </a:solidFill>
                <a:latin typeface="Arial"/>
              </a:defRPr>
            </a:pPr>
            <a:r>
              <a:t>% de RMSE que baja frente al nulo por conteo, validación por pitcher.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000" y="2667000"/>
            <a:ext cx="4013200" cy="1524000"/>
          </a:xfrm>
          <a:prstGeom prst="roundRect">
            <a:avLst>
              <a:gd name="adj" fmla="val 5000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200" y="2844800"/>
            <a:ext cx="3606800" cy="5989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400" b="1">
                <a:solidFill>
                  <a:srgbClr val="D71920"/>
                </a:solidFill>
                <a:latin typeface="Arial"/>
              </a:defRPr>
            </a:pPr>
            <a:r>
              <a:t>0.269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200" y="3442970"/>
            <a:ext cx="3606800" cy="261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F4F4F5"/>
                </a:solidFill>
                <a:latin typeface="Arial"/>
              </a:defRPr>
            </a:pPr>
            <a:r>
              <a:t>r de Stuff+ v2 con 50 lanzamientos contra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200" y="3641090"/>
            <a:ext cx="3606800" cy="261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F4F4F5"/>
                </a:solidFill>
                <a:latin typeface="Arial"/>
              </a:defRPr>
            </a:pPr>
            <a:r>
              <a:t>el resto de la temporada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22800" y="2667000"/>
            <a:ext cx="4013200" cy="1524000"/>
          </a:xfrm>
          <a:prstGeom prst="roundRect">
            <a:avLst>
              <a:gd name="adj" fmla="val 5000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26000" y="2844800"/>
            <a:ext cx="3606800" cy="5989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400" b="1">
                <a:solidFill>
                  <a:srgbClr val="9EA1A7"/>
                </a:solidFill>
                <a:latin typeface="Arial"/>
              </a:defRPr>
            </a:pPr>
            <a:r>
              <a:t>0.048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26000" y="3442970"/>
            <a:ext cx="3606800" cy="261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F4F4F5"/>
                </a:solidFill>
                <a:latin typeface="Arial"/>
              </a:defRPr>
            </a:pPr>
            <a:r>
              <a:t>r de los resultados del propio pitcher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6000" y="3641090"/>
            <a:ext cx="3606800" cy="261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F4F4F5"/>
                </a:solidFill>
                <a:latin typeface="Arial"/>
              </a:defRPr>
            </a:pPr>
            <a:r>
              <a:t>con los mismos 50 lanzamientos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3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8000" y="304800"/>
            <a:ext cx="101600" cy="101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241300"/>
            <a:ext cx="6096000" cy="205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900" b="1">
                <a:solidFill>
                  <a:srgbClr val="9EA1A7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1200" y="241300"/>
            <a:ext cx="3810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1">
                <a:solidFill>
                  <a:srgbClr val="D71920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84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La física corrige el sesgo de altitud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4572000"/>
            <a:ext cx="8128000" cy="10160"/>
          </a:xfrm>
          <a:prstGeom prst="rect">
            <a:avLst/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4660900"/>
            <a:ext cx="7747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750" b="0">
                <a:solidFill>
                  <a:srgbClr val="9EA1A7"/>
                </a:solidFill>
                <a:latin typeface="Arial"/>
              </a:defRPr>
            </a:pPr>
            <a:r>
              <a:t>reports/stuff_v2/altitude_bias.csv · entrenado sin altitud extrema, evaluado en ella.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5748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Nulo (conteo)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30500" y="16002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30500" y="1600200"/>
            <a:ext cx="3829050" cy="228600"/>
          </a:xfrm>
          <a:prstGeom prst="roundRect">
            <a:avLst>
              <a:gd name="adj" fmla="val 16666"/>
            </a:avLst>
          </a:prstGeom>
          <a:solidFill>
            <a:srgbClr val="9EA1A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0" y="15748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+0.0108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20574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Stuff+ v1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30500" y="20828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30500" y="2082800"/>
            <a:ext cx="886354" cy="228600"/>
          </a:xfrm>
          <a:prstGeom prst="roundRect">
            <a:avLst>
              <a:gd name="adj" fmla="val 16666"/>
            </a:avLst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2800" y="20574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+0.0025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25400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Stuff+ v2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30500" y="25654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30500" y="2565400"/>
            <a:ext cx="638175" cy="228600"/>
          </a:xfrm>
          <a:prstGeom prst="roundRect">
            <a:avLst>
              <a:gd name="adj" fmla="val 16666"/>
            </a:avLst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5400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+0.0018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000" y="3124200"/>
            <a:ext cx="8128000" cy="558800"/>
          </a:xfrm>
          <a:prstGeom prst="roundRect">
            <a:avLst>
              <a:gd name="adj" fmla="val 1363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000" y="3124200"/>
            <a:ext cx="50800" cy="558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600" y="3263900"/>
            <a:ext cx="7747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F4F4F5"/>
                </a:solidFill>
                <a:latin typeface="Arial"/>
              </a:defRPr>
            </a:pPr>
            <a:r>
              <a:t>Stuff+ v2 recorta el sesgo 84 % frente al nulo.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000" y="3860800"/>
            <a:ext cx="8128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9EA1A7"/>
                </a:solidFill>
                <a:latin typeface="Arial"/>
              </a:defRPr>
            </a:pPr>
            <a:r>
              <a:t>Carreras por lanzamiento que el modelo subestima en un aire que no vio.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3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8000" y="304800"/>
            <a:ext cx="101600" cy="101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241300"/>
            <a:ext cx="6096000" cy="205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900" b="1">
                <a:solidFill>
                  <a:srgbClr val="9EA1A7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1200" y="241300"/>
            <a:ext cx="3810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1">
                <a:solidFill>
                  <a:srgbClr val="D71920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84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Las pérdidas dependen de la forma del pitch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4572000"/>
            <a:ext cx="8128000" cy="10160"/>
          </a:xfrm>
          <a:prstGeom prst="rect">
            <a:avLst/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4660900"/>
            <a:ext cx="7747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750" b="0">
                <a:solidFill>
                  <a:srgbClr val="9EA1A7"/>
                </a:solidFill>
                <a:latin typeface="Arial"/>
              </a:defRPr>
            </a:pPr>
            <a:r>
              <a:t>reports/altitude_delta/delta_by_shape.csv · delta_stuff; misma forma, CDMX menos nivel del 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5240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Curva 12-6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30500" y="15494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30500" y="1549400"/>
            <a:ext cx="2127250" cy="228600"/>
          </a:xfrm>
          <a:prstGeom prst="roundRect">
            <a:avLst>
              <a:gd name="adj" fmla="val 16666"/>
            </a:avLst>
          </a:prstGeom>
          <a:solidFill>
            <a:srgbClr val="9EA1A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0" y="15240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−9.5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20066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Sweeper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30500" y="20320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30500" y="2032000"/>
            <a:ext cx="2149642" cy="228600"/>
          </a:xfrm>
          <a:prstGeom prst="roundRect">
            <a:avLst>
              <a:gd name="adj" fmla="val 16666"/>
            </a:avLst>
          </a:prstGeom>
          <a:solidFill>
            <a:srgbClr val="9EA1A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2800" y="20066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−9.6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24892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Recta 4S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30500" y="25146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30500" y="2514600"/>
            <a:ext cx="2552700" cy="228600"/>
          </a:xfrm>
          <a:prstGeom prst="roundRect">
            <a:avLst>
              <a:gd name="adj" fmla="val 16666"/>
            </a:avLst>
          </a:prstGeom>
          <a:solidFill>
            <a:srgbClr val="9EA1A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4892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−11.4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2971800"/>
            <a:ext cx="20955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F4F4F5"/>
                </a:solidFill>
                <a:latin typeface="Arial"/>
              </a:defRPr>
            </a:pPr>
            <a:r>
              <a:t>Recta de ride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30500" y="2997200"/>
            <a:ext cx="4254500" cy="228600"/>
          </a:xfrm>
          <a:prstGeom prst="roundRect">
            <a:avLst>
              <a:gd name="adj" fmla="val 16666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730500" y="2997200"/>
            <a:ext cx="4008186" cy="228600"/>
          </a:xfrm>
          <a:prstGeom prst="roundRect">
            <a:avLst>
              <a:gd name="adj" fmla="val 16666"/>
            </a:avLst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62800" y="2971800"/>
            <a:ext cx="14732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F4F4F5"/>
                </a:solidFill>
                <a:latin typeface="Arial"/>
              </a:defRPr>
            </a:pPr>
            <a:r>
              <a:t>−17.9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000" y="3860800"/>
            <a:ext cx="8128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9EA1A7"/>
                </a:solidFill>
                <a:latin typeface="Arial"/>
              </a:defRPr>
            </a:pPr>
            <a:r>
              <a:t>Longitud = pérdida de Stuff+. Ninguna forma gana en absoluto.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3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8000" y="304800"/>
            <a:ext cx="101600" cy="101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241300"/>
            <a:ext cx="6096000" cy="205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900" b="1">
                <a:solidFill>
                  <a:srgbClr val="9EA1A7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1200" y="241300"/>
            <a:ext cx="3810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1">
                <a:solidFill>
                  <a:srgbClr val="D71920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84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Dos sedes candidatas, dos cuentas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965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carreras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4572000"/>
            <a:ext cx="8128000" cy="10160"/>
          </a:xfrm>
          <a:prstGeom prst="rect">
            <a:avLst/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4660900"/>
            <a:ext cx="7747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750" b="0">
                <a:solidFill>
                  <a:srgbClr val="9EA1A7"/>
                </a:solidFill>
                <a:latin typeface="Arial"/>
              </a:defRPr>
            </a:pPr>
            <a:r>
              <a:t>reports/staff_audit/runs_saved.csv · franquicias 5 y 11, por separado.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000" y="1498600"/>
            <a:ext cx="4013200" cy="2006600"/>
          </a:xfrm>
          <a:prstGeom prst="roundRect">
            <a:avLst>
              <a:gd name="adj" fmla="val 3797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1651000"/>
            <a:ext cx="3556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1">
                <a:solidFill>
                  <a:srgbClr val="9EA1A7"/>
                </a:solidFill>
                <a:latin typeface="Arial"/>
              </a:defRPr>
            </a:pPr>
            <a:r>
              <a:t>Franquicia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1955800"/>
            <a:ext cx="3556000" cy="5674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200" b="1">
                <a:solidFill>
                  <a:srgbClr val="D71920"/>
                </a:solidFill>
                <a:latin typeface="Arial"/>
              </a:defRPr>
            </a:pPr>
            <a:r>
              <a:t>6.5 carreras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00" y="2540000"/>
            <a:ext cx="3556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F4F4F5"/>
                </a:solidFill>
                <a:latin typeface="Arial"/>
              </a:defRPr>
            </a:pPr>
            <a:r>
              <a:t>0.46 victorias por temporada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2971800"/>
            <a:ext cx="3556000" cy="2682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9EA1A7"/>
                </a:solidFill>
                <a:latin typeface="Arial"/>
              </a:defRPr>
            </a:pPr>
            <a:r>
              <a:t>Mezcla 5.2 · aperturas 1.4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2800" y="1498600"/>
            <a:ext cx="4013200" cy="2006600"/>
          </a:xfrm>
          <a:prstGeom prst="roundRect">
            <a:avLst>
              <a:gd name="adj" fmla="val 3797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1400" y="1651000"/>
            <a:ext cx="3556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1">
                <a:solidFill>
                  <a:srgbClr val="9EA1A7"/>
                </a:solidFill>
                <a:latin typeface="Arial"/>
              </a:defRPr>
            </a:pPr>
            <a:r>
              <a:t>Franquicia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1400" y="1955800"/>
            <a:ext cx="3556000" cy="5674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200" b="1">
                <a:solidFill>
                  <a:srgbClr val="D71920"/>
                </a:solidFill>
                <a:latin typeface="Arial"/>
              </a:defRPr>
            </a:pPr>
            <a:r>
              <a:t>4.5 carreras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1400" y="2540000"/>
            <a:ext cx="3556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F4F4F5"/>
                </a:solidFill>
                <a:latin typeface="Arial"/>
              </a:defRPr>
            </a:pPr>
            <a:r>
              <a:t>0.32 victorias por temporada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1400" y="2971800"/>
            <a:ext cx="3556000" cy="2682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9EA1A7"/>
                </a:solidFill>
                <a:latin typeface="Arial"/>
              </a:defRPr>
            </a:pPr>
            <a:r>
              <a:t>Mezcla 2.3 · aperturas 2.2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" y="3657600"/>
            <a:ext cx="8128000" cy="279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Identificación inferida. No se suman.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3873500"/>
            <a:ext cx="8128000" cy="279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La sede sigue sin confirmarse.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3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8000" y="304800"/>
            <a:ext cx="101600" cy="101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241300"/>
            <a:ext cx="6096000" cy="205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900" b="1">
                <a:solidFill>
                  <a:srgbClr val="9EA1A7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1200" y="241300"/>
            <a:ext cx="3810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1">
                <a:solidFill>
                  <a:srgbClr val="D71920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84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El producto: dos aires, un lanzamiento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4572000"/>
            <a:ext cx="8128000" cy="10160"/>
          </a:xfrm>
          <a:prstGeom prst="rect">
            <a:avLst/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4660900"/>
            <a:ext cx="7747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750" b="0">
                <a:solidFill>
                  <a:srgbClr val="9EA1A7"/>
                </a:solidFill>
                <a:latin typeface="Arial"/>
              </a:defRPr>
            </a:pPr>
            <a:r>
              <a:t>Capturas del simulador 3D y del explicador de física (Playwright, web/e2e/screenshots, HACK-051).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" y="1193800"/>
            <a:ext cx="3962400" cy="2311400"/>
          </a:xfrm>
          <a:prstGeom prst="roundRect">
            <a:avLst>
              <a:gd name="adj" fmla="val 2197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simulador_transmi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219200"/>
            <a:ext cx="3911600" cy="22606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699000" y="1193800"/>
            <a:ext cx="3962400" cy="2565400"/>
          </a:xfrm>
          <a:prstGeom prst="roundRect">
            <a:avLst>
              <a:gd name="adj" fmla="val 1980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isic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400" y="1219200"/>
            <a:ext cx="3911600" cy="2514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8000" y="3606800"/>
            <a:ext cx="39116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0">
                <a:solidFill>
                  <a:srgbClr val="9EA1A7"/>
                </a:solidFill>
                <a:latin typeface="Arial"/>
              </a:defRPr>
            </a:pPr>
            <a:r>
              <a:t>Simulador 3D: dos aires, mismo release.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3860800"/>
            <a:ext cx="39116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0">
                <a:solidFill>
                  <a:srgbClr val="9EA1A7"/>
                </a:solidFill>
                <a:latin typeface="Arial"/>
              </a:defRPr>
            </a:pPr>
            <a:r>
              <a:t>Física: arrastre y Magnus contra la densidad.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3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8000" y="304800"/>
            <a:ext cx="101600" cy="101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241300"/>
            <a:ext cx="6096000" cy="205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900" b="1">
                <a:solidFill>
                  <a:srgbClr val="9EA1A7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1200" y="241300"/>
            <a:ext cx="3810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1">
                <a:solidFill>
                  <a:srgbClr val="D71920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84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El entorno cambia el valor de una carrera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4572000"/>
            <a:ext cx="8128000" cy="10160"/>
          </a:xfrm>
          <a:prstGeom prst="rect">
            <a:avLst/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4660900"/>
            <a:ext cx="7747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750" b="0">
                <a:solidFill>
                  <a:srgbClr val="9EA1A7"/>
                </a:solidFill>
                <a:latin typeface="Arial"/>
              </a:defRPr>
            </a:pPr>
            <a:r>
              <a:t>reports/business_value/runs_per_win.csv; reports/business_value/gm_example.csv · puntos de Stuff+ v2 fuera de pliegue.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498600"/>
            <a:ext cx="2489200" cy="1854200"/>
          </a:xfrm>
          <a:prstGeom prst="roundRect">
            <a:avLst>
              <a:gd name="adj" fmla="val 4109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200" y="1676400"/>
            <a:ext cx="2082800" cy="6619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800" b="1">
                <a:solidFill>
                  <a:srgbClr val="9EA1A7"/>
                </a:solidFill>
                <a:latin typeface="Arial"/>
              </a:defRPr>
            </a:pPr>
            <a:r>
              <a:t>11.8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233299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Carreras por victoria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54762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liga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7400" y="1498600"/>
            <a:ext cx="2489200" cy="1854200"/>
          </a:xfrm>
          <a:prstGeom prst="roundRect">
            <a:avLst>
              <a:gd name="adj" fmla="val 4109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600" y="1676400"/>
            <a:ext cx="2082800" cy="6619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800" b="1">
                <a:solidFill>
                  <a:srgbClr val="D71920"/>
                </a:solidFill>
                <a:latin typeface="Arial"/>
              </a:defRPr>
            </a:pPr>
            <a:r>
              <a:t>14.3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0600" y="233299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Carreras por victoria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0600" y="254762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altitud extrema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6800" y="1498600"/>
            <a:ext cx="2489200" cy="1854200"/>
          </a:xfrm>
          <a:prstGeom prst="roundRect">
            <a:avLst>
              <a:gd name="adj" fmla="val 4109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0000" y="1676400"/>
            <a:ext cx="2082800" cy="6619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800" b="1">
                <a:solidFill>
                  <a:srgbClr val="D71920"/>
                </a:solidFill>
                <a:latin typeface="Arial"/>
              </a:defRPr>
            </a:pPr>
            <a:r>
              <a:t>1.51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233299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Victorias en el Harp Helú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2547620"/>
            <a:ext cx="2082800" cy="278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F4F4F5"/>
                </a:solidFill>
                <a:latin typeface="Arial"/>
              </a:defRPr>
            </a:pPr>
            <a:r>
              <a:t>por +10 de Stuff+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353060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1">
                <a:solidFill>
                  <a:srgbClr val="F4F4F5"/>
                </a:solidFill>
                <a:latin typeface="Arial"/>
              </a:defRPr>
            </a:pPr>
            <a:r>
              <a:t>+10 puntos en 2,500 lanzamientos = 21.7 carreras (escenario).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3860800"/>
            <a:ext cx="8128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9EA1A7"/>
                </a:solidFill>
                <a:latin typeface="Arial"/>
              </a:defRPr>
            </a:pPr>
            <a:r>
              <a:t>El ahorro del staff está en la lámina 7, por franquicia.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3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8000" y="304800"/>
            <a:ext cx="101600" cy="101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241300"/>
            <a:ext cx="6096000" cy="205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900" b="1">
                <a:solidFill>
                  <a:srgbClr val="9EA1A7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1200" y="241300"/>
            <a:ext cx="381000" cy="236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100" b="1">
                <a:solidFill>
                  <a:srgbClr val="D7192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84200"/>
            <a:ext cx="8128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500" b="1">
                <a:solidFill>
                  <a:srgbClr val="F4F4F5"/>
                </a:solidFill>
                <a:latin typeface="Arial"/>
              </a:defRPr>
            </a:pPr>
            <a:r>
              <a:t>La demo compara el mismo arsenal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4572000"/>
            <a:ext cx="8128000" cy="10160"/>
          </a:xfrm>
          <a:prstGeom prst="rect">
            <a:avLst/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4660900"/>
            <a:ext cx="7747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750" b="0">
                <a:solidFill>
                  <a:srgbClr val="9EA1A7"/>
                </a:solidFill>
                <a:latin typeface="Arial"/>
              </a:defRPr>
            </a:pPr>
            <a:r>
              <a:t>Producto web en el repo. Respaldo: este PDF y los CSV agregados de reports/.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193800"/>
            <a:ext cx="3860800" cy="2247900"/>
          </a:xfrm>
          <a:prstGeom prst="roundRect">
            <a:avLst>
              <a:gd name="adj" fmla="val 2259"/>
            </a:avLst>
          </a:prstGeom>
          <a:solidFill>
            <a:srgbClr val="1F21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simulador_recept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0" y="1219200"/>
            <a:ext cx="3810000" cy="2197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08000" y="1320800"/>
            <a:ext cx="50800" cy="4572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1200" y="1371600"/>
            <a:ext cx="40132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1">
                <a:solidFill>
                  <a:srgbClr val="F4F4F5"/>
                </a:solidFill>
                <a:latin typeface="Arial"/>
              </a:defRPr>
            </a:pPr>
            <a:r>
              <a:t>Simulador: la misma forma, 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" y="1607820"/>
            <a:ext cx="40132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1">
                <a:solidFill>
                  <a:srgbClr val="F4F4F5"/>
                </a:solidFill>
                <a:latin typeface="Arial"/>
              </a:defRPr>
            </a:pPr>
            <a:r>
              <a:t>aires.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000" y="1981200"/>
            <a:ext cx="50800" cy="4572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200" y="2032000"/>
            <a:ext cx="40132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1">
                <a:solidFill>
                  <a:srgbClr val="F4F4F5"/>
                </a:solidFill>
                <a:latin typeface="Arial"/>
              </a:defRPr>
            </a:pPr>
            <a:r>
              <a:t>Física: la densidad en vivo.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000" y="2641600"/>
            <a:ext cx="50800" cy="4572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2692400"/>
            <a:ext cx="40132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1">
                <a:solidFill>
                  <a:srgbClr val="F4F4F5"/>
                </a:solidFill>
                <a:latin typeface="Arial"/>
              </a:defRPr>
            </a:pPr>
            <a:r>
              <a:t>Altitud: los 20 parques por densidad.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3632200"/>
            <a:ext cx="8128000" cy="279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9EA1A7"/>
                </a:solidFill>
                <a:latin typeface="Arial"/>
              </a:defRPr>
            </a:pPr>
            <a:r>
              <a:t>Respaldo offline: este PDF y los CSV agregados.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000" y="3848100"/>
            <a:ext cx="8128000" cy="279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9EA1A7"/>
                </a:solidFill>
                <a:latin typeface="Arial"/>
              </a:defRPr>
            </a:pPr>
            <a:r>
              <a:t>La sede del staff sigue sin confirmarse.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