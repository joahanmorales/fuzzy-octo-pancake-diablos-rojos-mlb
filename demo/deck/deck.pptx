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s. Problema: un buen arsenal a nivel del mar vale menos en casa. Comparamos el mismo lanzamiento en dos aires con Stuff+ v2 en producción. Abrir con la decisión del coach: qué reclutar y cómo usarlo en casa.</a:t>
            </a:r>
          </a:p>
          <a:p>
            <a:r>
              <a:t>Fuentes: reports/altitude_delta/delta_by_shape.csv · promedio de la liga = ΔStuff+ de una forma − su diferencia contra la liga.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s. Densidad relativa estimada con el arrastre de las rectas. Son grupos de altitud; la identidad exacta del Harp Helú no está verificada.</a:t>
            </a:r>
          </a:p>
          <a:p>
            <a:r>
              <a:t>Fuentes: reports/physics/rho_by_bucket.csv · media por bucket; parques anónimos.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s. Observado dentro del mismo lanzador contra el cambio del modelo para la forma 4S. La elasticidad dice cuánto cae la fuerza de Magnus con la densidad: la física de libro dice 1, medimos más.</a:t>
            </a:r>
          </a:p>
          <a:p>
            <a:r>
              <a:t>Fuentes: reports/physics/delta_extreme_vs_no.csv; reports/altitude_delta/delta_by_shape.csv · 4S; reports/physics_v2/magnus_elasticity.csv.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75 s. Skill: fracción del RMSE que el modelo le quita al nulo por conteo, por pitcher. Stuff+ v2 deja que el conteo valore los resultados y ya le gana al nulo. A nivel pitcher, 50 lanzamientos de Stuff+ dicen más del resto de la temporada que los resultados del propio pitcher.</a:t>
            </a:r>
          </a:p>
          <a:p>
            <a:r>
              <a:t>Fuentes: reports/validation/headline.csv; reports/stuff_v2/skill.csv; reports/stuff_v2/pitcher_level.csv.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s. Se entrena sin un solo juego de altitud extrema y se predice esa altitud. El sesgo es carreras observadas menos predichas por lanzamiento: positivo = el modelo subestima el daño. Con la densidad del aire, Stuff+ v2 casi lo elimina.</a:t>
            </a:r>
          </a:p>
          <a:p>
            <a:r>
              <a:t>Fuentes: reports/stuff_v2/altitude_bias.csv · entrenado sin altitud extrema, evaluado en ella.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65 s. Ninguna forma gana en términos absolutos. La curva 12-6 y el sweeper pierden menos que la liga; la recta de mucho ride pierde más. Hipótesis operativa para reclutar: no pagar por ride de recta.</a:t>
            </a:r>
          </a:p>
          <a:p>
            <a:r>
              <a:t>Fuentes: reports/altitude_delta/delta_by_shape.csv · delta_stuff; misma forma, CDMX menos nivel del 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s. Identificación inferida: son las dos franquicias de aire más ligero, no un staff confirmado de Diablos. Carreras del modelo: mezcla de lanzamientos en casa más reasignación de aperturas. No sumar 5 y 11.</a:t>
            </a:r>
          </a:p>
          <a:p>
            <a:r>
              <a:t>Fuentes: reports/staff_audit/runs_saved.csv · franquicias 5 y 11, por separado.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s. Simulador 3D: el mismo release a nivel del mar y en el aire del Harp Helú, con el motor de vuelo que usa la elasticidad medida. El explicador de física deja mover la densidad y ver la subida perdida. Las cifras de la app salen de los mismos agregados.</a:t>
            </a:r>
          </a:p>
          <a:p>
            <a:r>
              <a:t>Fuentes: Capturas del simulador 3D y del explicador de física (web/, build de HACK-045 y HACK-072).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65 s. En altura se anota más, así que cada carrera ahorrada vale menos victorias. +10 puntos de Stuff+ sostenidos en 2,500 lanzamientos es un escenario de orden de magnitud, no el ahorro del staff de la lámina 7.</a:t>
            </a:r>
          </a:p>
          <a:p>
            <a:r>
              <a:t>Fuentes: reports/business_value/runs_per_win.csv; reports/business_value/gm_example.csv · escala de Stuff+ medida con v1.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70 s. Abrir el simulador con una forma y dos densidades, pasar al explicador de física y a la página de altitud. Si la red falla, quedarse en este PDF. Cerrar: las franquicias 5 y 11 no se suman y la sede no está confirmada.</a:t>
            </a:r>
          </a:p>
          <a:p>
            <a:r>
              <a:t>Fuentes: Producto web en el repo. Respaldo: este PDF y los CSV agregados de reports/.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ECEDEF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El mismo arsenal pierde 13.0 puntos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041400"/>
            <a:ext cx="8128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de Stuff+ en el aire de CDMX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44958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00" b="0">
                <a:solidFill>
                  <a:srgbClr val="ECEDEF"/>
                </a:solidFill>
                <a:latin typeface="Arial"/>
              </a:defRPr>
            </a:pPr>
            <a:r>
              <a:t>reports/altitude_delta/delta_by_shape.csv · promedio de la liga = ΔStuff+ de una forma − su diferencia contra la liga.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ECEDE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879600"/>
            <a:ext cx="8128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rial"/>
              </a:defRPr>
            </a:pPr>
            <a:r>
              <a:t>ΔStuff+ de la liga en el aire del Harp Helú: −13.0.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209800"/>
            <a:ext cx="8128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rial"/>
              </a:defRPr>
            </a:pPr>
            <a:r>
              <a:t>El modelo mide el aire de cada juego y lo extrapola a un aire que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540000"/>
            <a:ext cx="8128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rial"/>
              </a:defRPr>
            </a:pPr>
            <a:r>
              <a:t>vio.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314700"/>
            <a:ext cx="8128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600" b="0">
                <a:solidFill>
                  <a:srgbClr val="ECEDEF"/>
                </a:solidFill>
                <a:latin typeface="Arial"/>
              </a:defRPr>
            </a:pPr>
            <a:r>
              <a:t>Datos oficiales agregados. Identificación inferida: la sede del staff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566667"/>
            <a:ext cx="8128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600" b="0">
                <a:solidFill>
                  <a:srgbClr val="ECEDEF"/>
                </a:solidFill>
                <a:latin typeface="Arial"/>
              </a:defRPr>
            </a:pPr>
            <a:r>
              <a:t>sigue sin confirmarse.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600" b="1">
                <a:solidFill>
                  <a:srgbClr val="202124"/>
                </a:solidFill>
                <a:latin typeface="Arial"/>
              </a:defRPr>
            </a:pPr>
            <a:r>
              <a:t>El aire estimado cambia entre ambientes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44958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00" b="0">
                <a:solidFill>
                  <a:srgbClr val="585B60"/>
                </a:solidFill>
                <a:latin typeface="Arial"/>
              </a:defRPr>
            </a:pPr>
            <a:r>
              <a:t>reports/physics/rho_by_bucket.csv · media por bucket; parques anónimos.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879600"/>
            <a:ext cx="20955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Nivel del mar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30500" y="1930400"/>
            <a:ext cx="3871594" cy="228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7400" y="1866900"/>
            <a:ext cx="14986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rial"/>
              </a:defRPr>
            </a:pPr>
            <a:r>
              <a:t>1.001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616200"/>
            <a:ext cx="20955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Altitud media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30500" y="2667000"/>
            <a:ext cx="3450012" cy="228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7400" y="2603500"/>
            <a:ext cx="14986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rial"/>
              </a:defRPr>
            </a:pPr>
            <a:r>
              <a:t>0.892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3352800"/>
            <a:ext cx="20955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Altitud extrema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30500" y="3403600"/>
            <a:ext cx="3252758" cy="228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7400" y="3340100"/>
            <a:ext cx="14986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rial"/>
              </a:defRPr>
            </a:pPr>
            <a:r>
              <a:t>0.841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4025900"/>
            <a:ext cx="8128000" cy="283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400" b="0">
                <a:solidFill>
                  <a:srgbClr val="585B60"/>
                </a:solidFill>
                <a:latin typeface="Arial"/>
              </a:defRPr>
            </a:pPr>
            <a:r>
              <a:t>Densidad relativa: menor valor significa aire menos denso.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600" b="1">
                <a:solidFill>
                  <a:srgbClr val="202124"/>
                </a:solidFill>
                <a:latin typeface="Arial"/>
              </a:defRPr>
            </a:pPr>
            <a:r>
              <a:t>La recta pierde subida: el Magnus cae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041400"/>
            <a:ext cx="8128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600" b="1">
                <a:solidFill>
                  <a:srgbClr val="202124"/>
                </a:solidFill>
                <a:latin typeface="Arial"/>
              </a:defRPr>
            </a:pPr>
            <a:r>
              <a:t>más rápido que el 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44958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00" b="0">
                <a:solidFill>
                  <a:srgbClr val="585B60"/>
                </a:solidFill>
                <a:latin typeface="Arial"/>
              </a:defRPr>
            </a:pPr>
            <a:r>
              <a:t>reports/physics/delta_extreme_vs_no.csv; reports/altitude_delta/delta_by_shape.csv · 4S; reports/physics_v2/magnus_elasticity.csv.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816100"/>
            <a:ext cx="2540000" cy="7564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4400" b="1">
                <a:solidFill>
                  <a:srgbClr val="D71920"/>
                </a:solidFill>
                <a:latin typeface="Arial"/>
              </a:defRPr>
            </a:pPr>
            <a:r>
              <a:t>−3.54"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552700"/>
            <a:ext cx="2667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Observado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788920"/>
            <a:ext cx="2667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altitud extrema − sin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025140"/>
            <a:ext cx="2667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altitud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7400" y="1816100"/>
            <a:ext cx="2540000" cy="7564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4400" b="1">
                <a:solidFill>
                  <a:srgbClr val="D71920"/>
                </a:solidFill>
                <a:latin typeface="Arial"/>
              </a:defRPr>
            </a:pPr>
            <a:r>
              <a:t>−3.56"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7400" y="2552700"/>
            <a:ext cx="2540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Modelo, forma 4S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7400" y="2788920"/>
            <a:ext cx="2540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CDMX − nivel del mar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6800" y="1816100"/>
            <a:ext cx="2489200" cy="7564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4400" b="1">
                <a:solidFill>
                  <a:srgbClr val="D71920"/>
                </a:solidFill>
                <a:latin typeface="Arial"/>
              </a:defRPr>
            </a:pPr>
            <a:r>
              <a:t>1.36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6800" y="2552700"/>
            <a:ext cx="24892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Elasticidad del Magnus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6800" y="2788920"/>
            <a:ext cx="24892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de la recta (libro: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3937000"/>
            <a:ext cx="8128000" cy="2682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300" b="0">
                <a:solidFill>
                  <a:srgbClr val="585B60"/>
                </a:solidFill>
                <a:latin typeface="Arial"/>
              </a:defRPr>
            </a:pPr>
            <a:r>
              <a:t>IVB: movimiento vertical inducido, pulgadas. El simulador usa la elasticidad medida.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600" b="1">
                <a:solidFill>
                  <a:srgbClr val="202124"/>
                </a:solidFill>
                <a:latin typeface="Arial"/>
              </a:defRPr>
            </a:pPr>
            <a:r>
              <a:t>Le ganamos al modelo nulo de la rúbrica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44958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00" b="0">
                <a:solidFill>
                  <a:srgbClr val="585B60"/>
                </a:solidFill>
                <a:latin typeface="Arial"/>
              </a:defRPr>
            </a:pPr>
            <a:r>
              <a:t>reports/validation/headline.csv; reports/stuff_v2/skill.csv; reports/stuff_v2/pitcher_level.csv.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803400"/>
            <a:ext cx="20955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Pitching+</a:t>
            </a:r>
          </a:p>
        </p:txBody>
      </p:sp>
      <p:sp>
        <p:nvSpPr>
          <p:cNvPr id="9" name="Rectangle 8"/>
          <p:cNvSpPr/>
          <p:nvPr/>
        </p:nvSpPr>
        <p:spPr>
          <a:xfrm>
            <a:off x="2730500" y="1854200"/>
            <a:ext cx="3301491" cy="228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7400" y="1790700"/>
            <a:ext cx="14986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rial"/>
              </a:defRPr>
            </a:pPr>
            <a:r>
              <a:t>3.88 %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400300"/>
            <a:ext cx="20955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Stuff+ v2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30500" y="2451100"/>
            <a:ext cx="153161" cy="228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7400" y="2387600"/>
            <a:ext cx="14986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rial"/>
              </a:defRPr>
            </a:pPr>
            <a:r>
              <a:t>+0.18 %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2844800"/>
            <a:ext cx="8128000" cy="2682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300" b="0">
                <a:solidFill>
                  <a:srgbClr val="585B60"/>
                </a:solidFill>
                <a:latin typeface="Arial"/>
              </a:defRPr>
            </a:pPr>
            <a:r>
              <a:t>% de RMSE que baja frente al nulo por conteo, validación por pitcher.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3124200"/>
            <a:ext cx="3810000" cy="5674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3200" b="1">
                <a:solidFill>
                  <a:srgbClr val="D71920"/>
                </a:solidFill>
                <a:latin typeface="Arial"/>
              </a:defRPr>
            </a:pPr>
            <a:r>
              <a:t>0.269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3632200"/>
            <a:ext cx="40640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200" b="0">
                <a:solidFill>
                  <a:srgbClr val="202124"/>
                </a:solidFill>
                <a:latin typeface="Arial"/>
              </a:defRPr>
            </a:pPr>
            <a:r>
              <a:t>r de Stuff+ v2 con 50 lanzamientos contra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821176"/>
            <a:ext cx="40640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200" b="0">
                <a:solidFill>
                  <a:srgbClr val="202124"/>
                </a:solidFill>
                <a:latin typeface="Arial"/>
              </a:defRPr>
            </a:pPr>
            <a:r>
              <a:t>el resto de la temporada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0" y="3124200"/>
            <a:ext cx="3810000" cy="5674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3200" b="1">
                <a:solidFill>
                  <a:srgbClr val="585B60"/>
                </a:solidFill>
                <a:latin typeface="Arial"/>
              </a:defRPr>
            </a:pPr>
            <a:r>
              <a:t>0.048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0" y="3632200"/>
            <a:ext cx="38100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200" b="0">
                <a:solidFill>
                  <a:srgbClr val="202124"/>
                </a:solidFill>
                <a:latin typeface="Arial"/>
              </a:defRPr>
            </a:pPr>
            <a:r>
              <a:t>r de los resultados del propio pitcher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0" y="3821176"/>
            <a:ext cx="38100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200" b="0">
                <a:solidFill>
                  <a:srgbClr val="202124"/>
                </a:solidFill>
                <a:latin typeface="Arial"/>
              </a:defRPr>
            </a:pPr>
            <a:r>
              <a:t>con los mismos 50 lanzamientos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600" b="1">
                <a:solidFill>
                  <a:srgbClr val="202124"/>
                </a:solidFill>
                <a:latin typeface="Arial"/>
              </a:defRPr>
            </a:pPr>
            <a:r>
              <a:t>La física corrige el sesgo de altitud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44958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00" b="0">
                <a:solidFill>
                  <a:srgbClr val="585B60"/>
                </a:solidFill>
                <a:latin typeface="Arial"/>
              </a:defRPr>
            </a:pPr>
            <a:r>
              <a:t>reports/stuff_v2/altitude_bias.csv · entrenado sin altitud extrema, evaluado en ella.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803400"/>
            <a:ext cx="20955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Nulo (conteo)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30500" y="1854200"/>
            <a:ext cx="3829050" cy="228600"/>
          </a:xfrm>
          <a:prstGeom prst="rect">
            <a:avLst/>
          </a:prstGeom>
          <a:solidFill>
            <a:srgbClr val="585B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7400" y="1790700"/>
            <a:ext cx="14986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rial"/>
              </a:defRPr>
            </a:pPr>
            <a:r>
              <a:t>+0.0108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400300"/>
            <a:ext cx="20955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Stuff+ v1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30500" y="2451100"/>
            <a:ext cx="886354" cy="228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7400" y="2387600"/>
            <a:ext cx="14986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rial"/>
              </a:defRPr>
            </a:pPr>
            <a:r>
              <a:t>+0.0025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2997200"/>
            <a:ext cx="20955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Stuff+ v2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30500" y="3048000"/>
            <a:ext cx="638175" cy="228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7400" y="2984500"/>
            <a:ext cx="14986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rial"/>
              </a:defRPr>
            </a:pPr>
            <a:r>
              <a:t>+0.0018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657600"/>
            <a:ext cx="81280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rial"/>
              </a:defRPr>
            </a:pPr>
            <a:r>
              <a:t>Stuff+ v2 recorta el sesgo 84 % frente al nulo.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4025900"/>
            <a:ext cx="8128000" cy="2682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300" b="0">
                <a:solidFill>
                  <a:srgbClr val="585B60"/>
                </a:solidFill>
                <a:latin typeface="Arial"/>
              </a:defRPr>
            </a:pPr>
            <a:r>
              <a:t>Carreras por lanzamiento que el modelo subestima en un aire que no vio.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600" b="1">
                <a:solidFill>
                  <a:srgbClr val="202124"/>
                </a:solidFill>
                <a:latin typeface="Arial"/>
              </a:defRPr>
            </a:pPr>
            <a:r>
              <a:t>Las pérdidas dependen de la forma 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041400"/>
            <a:ext cx="8128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600" b="1">
                <a:solidFill>
                  <a:srgbClr val="202124"/>
                </a:solidFill>
                <a:latin typeface="Arial"/>
              </a:defRPr>
            </a:pPr>
            <a:r>
              <a:t>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44958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00" b="0">
                <a:solidFill>
                  <a:srgbClr val="585B60"/>
                </a:solidFill>
                <a:latin typeface="Arial"/>
              </a:defRPr>
            </a:pPr>
            <a:r>
              <a:t>reports/altitude_delta/delta_by_shape.csv · delta_stuff; misma forma, CDMX menos nivel del mar.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752600"/>
            <a:ext cx="20955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Curva 12-6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30500" y="1803400"/>
            <a:ext cx="2127250" cy="228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7400" y="1739900"/>
            <a:ext cx="14986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rial"/>
              </a:defRPr>
            </a:pPr>
            <a:r>
              <a:t>−9.5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2260600"/>
            <a:ext cx="20955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Sweeper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30500" y="2311400"/>
            <a:ext cx="2149642" cy="228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7400" y="2247900"/>
            <a:ext cx="14986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rial"/>
              </a:defRPr>
            </a:pPr>
            <a:r>
              <a:t>−9.6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2768600"/>
            <a:ext cx="20955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Recta 4S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30500" y="2819400"/>
            <a:ext cx="2552700" cy="228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7400" y="2755900"/>
            <a:ext cx="14986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rial"/>
              </a:defRPr>
            </a:pPr>
            <a:r>
              <a:t>−11.4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3276600"/>
            <a:ext cx="20955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Recta de ride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30500" y="3327400"/>
            <a:ext cx="4008186" cy="228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7400" y="3263900"/>
            <a:ext cx="14986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rial"/>
              </a:defRPr>
            </a:pPr>
            <a:r>
              <a:t>−17.9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4025900"/>
            <a:ext cx="8128000" cy="283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400" b="0">
                <a:solidFill>
                  <a:srgbClr val="585B60"/>
                </a:solidFill>
                <a:latin typeface="Arial"/>
              </a:defRPr>
            </a:pPr>
            <a:r>
              <a:t>Longitud = pérdida de Stuff+. Ninguna forma gana en absoluto.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600" b="1">
                <a:solidFill>
                  <a:srgbClr val="202124"/>
                </a:solidFill>
                <a:latin typeface="Arial"/>
              </a:defRPr>
            </a:pPr>
            <a:r>
              <a:t>Dos sedes candidatas, dos cuentas 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041400"/>
            <a:ext cx="8128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600" b="1">
                <a:solidFill>
                  <a:srgbClr val="202124"/>
                </a:solidFill>
                <a:latin typeface="Arial"/>
              </a:defRPr>
            </a:pPr>
            <a:r>
              <a:t>carreras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44958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00" b="0">
                <a:solidFill>
                  <a:srgbClr val="585B60"/>
                </a:solidFill>
                <a:latin typeface="Arial"/>
              </a:defRPr>
            </a:pPr>
            <a:r>
              <a:t>reports/staff_audit/runs_saved.csv · franquicias 5 y 11, por separado.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701800"/>
            <a:ext cx="38100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1">
                <a:solidFill>
                  <a:srgbClr val="D71920"/>
                </a:solidFill>
                <a:latin typeface="Arial"/>
              </a:defRPr>
            </a:pPr>
            <a:r>
              <a:t>Franquicia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032000"/>
            <a:ext cx="3810000" cy="535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3000" b="1">
                <a:solidFill>
                  <a:srgbClr val="D71920"/>
                </a:solidFill>
                <a:latin typeface="Arial"/>
              </a:defRPr>
            </a:pPr>
            <a:r>
              <a:t>5.5 carreras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514600"/>
            <a:ext cx="3810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0.38 victorias por temporada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2844800"/>
            <a:ext cx="3810000" cy="283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400" b="0">
                <a:solidFill>
                  <a:srgbClr val="585B60"/>
                </a:solidFill>
                <a:latin typeface="Arial"/>
              </a:defRPr>
            </a:pPr>
            <a:r>
              <a:t>Mezcla 4.3 · aperturas 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0" y="1701800"/>
            <a:ext cx="38100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1">
                <a:solidFill>
                  <a:srgbClr val="D71920"/>
                </a:solidFill>
                <a:latin typeface="Arial"/>
              </a:defRPr>
            </a:pPr>
            <a:r>
              <a:t>Franquicia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0" y="2032000"/>
            <a:ext cx="3810000" cy="535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3000" b="1">
                <a:solidFill>
                  <a:srgbClr val="D71920"/>
                </a:solidFill>
                <a:latin typeface="Arial"/>
              </a:defRPr>
            </a:pPr>
            <a:r>
              <a:t>3.8 carreras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0" y="2514600"/>
            <a:ext cx="3810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0.26 victorias por temporada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0" y="2844800"/>
            <a:ext cx="3810000" cy="283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400" b="0">
                <a:solidFill>
                  <a:srgbClr val="585B60"/>
                </a:solidFill>
                <a:latin typeface="Arial"/>
              </a:defRPr>
            </a:pPr>
            <a:r>
              <a:t>Mezcla 2.0 · aperturas 1.8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657600"/>
            <a:ext cx="8128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Identificación inferida. No se suman.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3893820"/>
            <a:ext cx="8128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La sede sigue sin confirmarse.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600" b="1">
                <a:solidFill>
                  <a:srgbClr val="202124"/>
                </a:solidFill>
                <a:latin typeface="Arial"/>
              </a:defRPr>
            </a:pPr>
            <a:r>
              <a:t>El producto: dos aires, un lanzamiento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44958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00" b="0">
                <a:solidFill>
                  <a:srgbClr val="585B60"/>
                </a:solidFill>
                <a:latin typeface="Arial"/>
              </a:defRPr>
            </a:pPr>
            <a:r>
              <a:t>Capturas del simulador 3D y del explicador de física (web/, build de HACK-045 y HACK-072).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08</a:t>
            </a:r>
          </a:p>
        </p:txBody>
      </p:sp>
      <p:pic>
        <p:nvPicPr>
          <p:cNvPr id="8" name="Picture 7" descr="simulador_transmis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44600"/>
            <a:ext cx="3911600" cy="2260600"/>
          </a:xfrm>
          <a:prstGeom prst="rect">
            <a:avLst/>
          </a:prstGeom>
        </p:spPr>
      </p:pic>
      <p:pic>
        <p:nvPicPr>
          <p:cNvPr id="9" name="Picture 8" descr="fisic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244600"/>
            <a:ext cx="3911600" cy="2514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8000" y="3581400"/>
            <a:ext cx="3911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200" b="0">
                <a:solidFill>
                  <a:srgbClr val="585B60"/>
                </a:solidFill>
                <a:latin typeface="Arial"/>
              </a:defRPr>
            </a:pPr>
            <a:r>
              <a:t>Simulador 3D: dos aires, mismo release.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3810000"/>
            <a:ext cx="3911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200" b="0">
                <a:solidFill>
                  <a:srgbClr val="585B60"/>
                </a:solidFill>
                <a:latin typeface="Arial"/>
              </a:defRPr>
            </a:pPr>
            <a:r>
              <a:t>Física: arrastre y Magnus contra la densidad.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600" b="1">
                <a:solidFill>
                  <a:srgbClr val="202124"/>
                </a:solidFill>
                <a:latin typeface="Arial"/>
              </a:defRPr>
            </a:pPr>
            <a:r>
              <a:t>El entorno cambia el valor de una carrera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44958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00" b="0">
                <a:solidFill>
                  <a:srgbClr val="585B60"/>
                </a:solidFill>
                <a:latin typeface="Arial"/>
              </a:defRPr>
            </a:pPr>
            <a:r>
              <a:t>reports/business_value/runs_per_win.csv; reports/business_value/gm_example.csv · escala de Stuff+ medida con v1.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727200"/>
            <a:ext cx="2540000" cy="7249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4200" b="1">
                <a:solidFill>
                  <a:srgbClr val="D71920"/>
                </a:solidFill>
                <a:latin typeface="Arial"/>
              </a:defRPr>
            </a:pPr>
            <a:r>
              <a:t>11.8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387600"/>
            <a:ext cx="2540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Carreras por victoria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623820"/>
            <a:ext cx="2540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liga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5000" y="1727200"/>
            <a:ext cx="2540000" cy="7249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4200" b="1">
                <a:solidFill>
                  <a:srgbClr val="D71920"/>
                </a:solidFill>
                <a:latin typeface="Arial"/>
              </a:defRPr>
            </a:pPr>
            <a:r>
              <a:t>14.3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2387600"/>
            <a:ext cx="2667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Carreras por victoria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5000" y="2623820"/>
            <a:ext cx="2667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altitud extrema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3000" y="1727200"/>
            <a:ext cx="2413000" cy="7249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4200" b="1">
                <a:solidFill>
                  <a:srgbClr val="D71920"/>
                </a:solidFill>
                <a:latin typeface="Arial"/>
              </a:defRPr>
            </a:pPr>
            <a:r>
              <a:t>1.26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000" y="2387600"/>
            <a:ext cx="2413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Victorias en el Harp Helú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0" y="2623820"/>
            <a:ext cx="2413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202124"/>
                </a:solidFill>
                <a:latin typeface="Arial"/>
              </a:defRPr>
            </a:pPr>
            <a:r>
              <a:t>por +10 de Stuff+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606800"/>
            <a:ext cx="8128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1">
                <a:solidFill>
                  <a:srgbClr val="202124"/>
                </a:solidFill>
                <a:latin typeface="Arial"/>
              </a:defRPr>
            </a:pPr>
            <a:r>
              <a:t>+10 puntos en 2,500 lanzamientos = 18.1 carreras (escenario).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4013200"/>
            <a:ext cx="8128000" cy="2682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300" b="0">
                <a:solidFill>
                  <a:srgbClr val="585B60"/>
                </a:solidFill>
                <a:latin typeface="Arial"/>
              </a:defRPr>
            </a:pPr>
            <a:r>
              <a:t>El ahorro del staff está en la lámina 7, por franquicia.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ECEDEF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La demo compara el mismo arsenal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44958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00" b="0">
                <a:solidFill>
                  <a:srgbClr val="ECEDEF"/>
                </a:solidFill>
                <a:latin typeface="Arial"/>
              </a:defRPr>
            </a:pPr>
            <a:r>
              <a:t>Producto web en el repo. Respaldo: este PDF y los CSV agregados de reports/.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ECEDEF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8" name="Picture 7" descr="simulador_recept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19200"/>
            <a:ext cx="3810000" cy="2197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8000" y="1295400"/>
            <a:ext cx="4064000" cy="406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Arial"/>
              </a:defRPr>
            </a:pPr>
            <a:r>
              <a:t>Simulador: la misma forma,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1638300"/>
            <a:ext cx="4064000" cy="406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Arial"/>
              </a:defRPr>
            </a:pPr>
            <a:r>
              <a:t>dos aires.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1981200"/>
            <a:ext cx="4064000" cy="406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Arial"/>
              </a:defRPr>
            </a:pPr>
            <a:r>
              <a:t>Física: la densidad en vivo.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2324100"/>
            <a:ext cx="4064000" cy="406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Arial"/>
              </a:defRPr>
            </a:pPr>
            <a:r>
              <a:t>Altitud: los 20 parques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2667000"/>
            <a:ext cx="4064000" cy="406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Arial"/>
              </a:defRPr>
            </a:pPr>
            <a:r>
              <a:t>por densidad.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3657600"/>
            <a:ext cx="8128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ECEDEF"/>
                </a:solidFill>
                <a:latin typeface="Arial"/>
              </a:defRPr>
            </a:pPr>
            <a:r>
              <a:t>Respaldo offline: este PDF y los CSV agregados.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3893820"/>
            <a:ext cx="8128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500" b="0">
                <a:solidFill>
                  <a:srgbClr val="ECEDEF"/>
                </a:solidFill>
                <a:latin typeface="Arial"/>
              </a:defRPr>
            </a:pPr>
            <a:r>
              <a:t>La sede del staff sigue sin confirmarse.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