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Problema: un buen arsenal a nivel del mar puede cambiar en casa. Proponemos comparar la misma forma de lanzamiento bajo dos ambientes. Abrir con una decisión del coach, sin prometer superioridad predictiva.</a:t>
            </a:r>
          </a:p>
          <a:p>
            <a:r>
              <a:t>Fuentes: Fuente: reports/altitude_delta/delta_by_shape.csv. Estimaciones exploratorias.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Mostrar densidad relativa estimada. Son grupos de altitud y la identidad exacta del Harp Helú aún no está verificada. Los valores no prueban por sí solos una relación causal.</a:t>
            </a:r>
          </a:p>
          <a:p>
            <a:r>
              <a:t>Fuentes: reports/physics/rho_by_bucket.csv · media por bucket; parques anónimos.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Separar observación y contrafactual: el primer valor compara Extreme menos No dentro de lanzador; el segundo mueve la misma forma 4S a aire de Harp Helú frente a nivel del mar. La concordancia describe un mecanismo, no identifica causalidad.</a:t>
            </a:r>
          </a:p>
          <a:p>
            <a:r>
              <a:t>Fuentes: reports/physics/delta_extreme_vs_no.csv · Four-Seam/ivb; reports/altitude_delta/delta_by_shape.csv · 4S.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75 s. RMSE menor es mejor. La mejora de Pitching+ no se atribuye a Stuff+ puro. La preparación global es transductiva: faltan holdouts inductivos reales por lanzador, temporada y parque. No usar benchmark/demo como calidad real.</a:t>
            </a:r>
          </a:p>
          <a:p>
            <a:r>
              <a:t>Fuentes: reports/stuff_model/metrics.csv; reports/pitching_model/metrics.csv · rv_x, baseline por conteo.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65 s. Barras muestran magnitud de pérdida: ninguna forma del cuadro gana en términos absolutos. Sweeper pierde menos que riding 4S. Es una hipótesis operativa para discutir, condicionada al modelo y a la física.</a:t>
            </a:r>
          </a:p>
          <a:p>
            <a:r>
              <a:t>Fuentes: reports/altitude_delta/delta_by_shape.csv · delta_stuff; misma forma, CDMX menos nivel del 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65 s. Comparar la misma temporada. Índice centrado en 100: resistencia relativa a la liga, no percentil. Ambos pierden puntos absolutos. Los intervalos condicionan física, modelo, prior, baseline y uso. No miden certeza de rango ni garantizan desempeño futuro.</a:t>
            </a:r>
          </a:p>
          <a:p>
            <a:r>
              <a:t>Fuentes: reports/pitcher_sensitivity/top15.csv; reports/pitcher_sensitivity/bottom15.csv · temporada 2025; estimaciones 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Las franquicias 5 y 11 son candidatos por densidad, no identificación verificada de Diablos. La auditoría de uso en casa frente a gira está pendiente. No nombrar una rotación, un bullpen o pitches para cortar sin el vínculo oficial y HACK-032.</a:t>
            </a:r>
          </a:p>
          <a:p>
            <a:r>
              <a:t>Fuentes: reports/park_id/franchise_rho.csv; reports/park_id/harp_helu.md · identidad provisional.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s. Solicitar velocidad, giro, eje de giro, punto de liberación y extensión del arsenal. El motor compara movimiento y calidad en dos ambientes. La salida del evaluador de prospectos y sus comparables aún debe integrarse y verificarse. No emitir Firmar o Evitar con evidencia incompleta.</a:t>
            </a:r>
          </a:p>
          <a:p>
            <a:r>
              <a:t>Fuentes: Contrato: docs/CONTRACT.md; stuffplus/schema.py. Flujo propuesto, sin evaluación real de prospectos.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65 s. Carreras por victoria como conversión descriptiva: liga y bucket Extreme. El bucket no certifica identidad del estadio. Las conversiones de puntos Stuff+ a carreras dependen de la desviación del xRV predicho y calibración final. Las tablas por calidad del modelo son escenarios, no ahorros observados.</a:t>
            </a:r>
          </a:p>
          <a:p>
            <a:r>
              <a:t>Fuentes: reports/business_value/runs_per_win.csv · aproximación pitagórica; no proyección de ahorro del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 s. Abrir comparación por forma, mostrar la pérdida del arsenal y discutir el pitch que más contribuye. Si dashboard no está integrado o falla, usar las tablas y estas láminas. Terminar con el siguiente paso: validar, confirmar el staff y contrastar recomendaciones con el coach. No afirmar demo en vivo verificada.</a:t>
            </a:r>
          </a:p>
          <a:p>
            <a:r>
              <a:t>Fuentes: Respaldo: reports/altitude_delta/ y reports/pitcher_sensitivity/. Integración de dashboard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ECEDEF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El mismo arsenal cambia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541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en el aire de CDMX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495800"/>
            <a:ext cx="8128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50" b="0">
                <a:solidFill>
                  <a:srgbClr val="ECEDEF"/>
                </a:solidFill>
                <a:latin typeface="Arial"/>
              </a:defRPr>
            </a:pPr>
            <a:r>
              <a:t>Fuente: reports/altitude_delta/delta_by_shape.csv. Estimaciones exploratorias.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ECEDE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32000"/>
            <a:ext cx="8128000" cy="4099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rial"/>
              </a:defRPr>
            </a:pPr>
            <a:r>
              <a:t>Comparación física y estadística para discutir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378456"/>
            <a:ext cx="8128000" cy="4099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rial"/>
              </a:defRPr>
            </a:pPr>
            <a:r>
              <a:t>el uso del arsenal y la evaluación de lanzadores.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314700"/>
            <a:ext cx="8128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ECEDEF"/>
                </a:solidFill>
                <a:latin typeface="Arial"/>
              </a:defRPr>
            </a:pPr>
            <a:r>
              <a:t>Documento para entrevista. Datos oficiales agregados.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582416"/>
            <a:ext cx="8128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ECEDEF"/>
                </a:solidFill>
                <a:latin typeface="Arial"/>
              </a:defRPr>
            </a:pPr>
            <a:r>
              <a:t>Staff, prospectos y validación inductiva siguen pendientes.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El aire estimado cambia entre ambientes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8128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50" b="0">
                <a:solidFill>
                  <a:srgbClr val="585B60"/>
                </a:solidFill>
                <a:latin typeface="Arial"/>
              </a:defRPr>
            </a:pPr>
            <a:r>
              <a:t>reports/physics/rho_by_bucket.csv · media por bucket; parques anónimos.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79600"/>
            <a:ext cx="1905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202124"/>
                </a:solidFill>
                <a:latin typeface="Arial"/>
              </a:defRPr>
            </a:pPr>
            <a:r>
              <a:t>Nivel del mar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0500" y="1930400"/>
            <a:ext cx="3871594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4400" y="1866900"/>
            <a:ext cx="13716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1.001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616200"/>
            <a:ext cx="1905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202124"/>
                </a:solidFill>
                <a:latin typeface="Arial"/>
              </a:defRPr>
            </a:pPr>
            <a:r>
              <a:t>Altitud 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0500" y="2667000"/>
            <a:ext cx="3450012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4400" y="2603500"/>
            <a:ext cx="13716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0.892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3352800"/>
            <a:ext cx="1905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202124"/>
                </a:solidFill>
                <a:latin typeface="Arial"/>
              </a:defRPr>
            </a:pPr>
            <a:r>
              <a:t>Altitud extrema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30500" y="3403600"/>
            <a:ext cx="3252758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4400" y="3340100"/>
            <a:ext cx="13716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0.841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4025900"/>
            <a:ext cx="8128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Densidad relativa: menor valor significa aire menos denso.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La recta pierde movimiento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8128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50" b="0">
                <a:solidFill>
                  <a:srgbClr val="585B60"/>
                </a:solidFill>
                <a:latin typeface="Arial"/>
              </a:defRPr>
            </a:pPr>
            <a:r>
              <a:t>reports/physics/delta_extreme_vs_no.csv · Four-Seam/ivb; reports/altitude_delta/delta_by_shape.csv · 4S.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917700"/>
            <a:ext cx="3556000" cy="929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5500" b="1">
                <a:solidFill>
                  <a:srgbClr val="D71920"/>
                </a:solidFill>
                <a:latin typeface="Arial"/>
              </a:defRPr>
            </a:pPr>
            <a:r>
              <a:t>-3.54"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857500"/>
            <a:ext cx="3619500" cy="362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202124"/>
                </a:solidFill>
                <a:latin typeface="Arial"/>
              </a:defRPr>
            </a:pPr>
            <a:r>
              <a:t>Contraste observado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3156712"/>
            <a:ext cx="3619500" cy="362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202124"/>
                </a:solidFill>
                <a:latin typeface="Arial"/>
              </a:defRPr>
            </a:pPr>
            <a:r>
              <a:t>Extreme menos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0" y="1917700"/>
            <a:ext cx="3810000" cy="929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5500" b="1">
                <a:solidFill>
                  <a:srgbClr val="D71920"/>
                </a:solidFill>
                <a:latin typeface="Arial"/>
              </a:defRPr>
            </a:pPr>
            <a:r>
              <a:t>-3.56"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2857500"/>
            <a:ext cx="3810000" cy="362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202124"/>
                </a:solidFill>
                <a:latin typeface="Arial"/>
              </a:defRPr>
            </a:pPr>
            <a:r>
              <a:t>Cambio físico modelado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3156712"/>
            <a:ext cx="3810000" cy="362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202124"/>
                </a:solidFill>
                <a:latin typeface="Arial"/>
              </a:defRPr>
            </a:pPr>
            <a:r>
              <a:t>CDMX menos nivel del 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025900"/>
            <a:ext cx="8128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IVB: movimiento vertical inducido. Comparaciones exploratorias.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Pitching+ mejora el error. Stuff+ queda cerca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8128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50" b="0">
                <a:solidFill>
                  <a:srgbClr val="585B60"/>
                </a:solidFill>
                <a:latin typeface="Arial"/>
              </a:defRPr>
            </a:pPr>
            <a:r>
              <a:t>reports/stuff_model/metrics.csv; reports/pitching_model/metrics.csv · rv_x, baseline por conteo.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03400"/>
            <a:ext cx="1905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202124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0500" y="1854200"/>
            <a:ext cx="3824408" cy="228600"/>
          </a:xfrm>
          <a:prstGeom prst="rect">
            <a:avLst/>
          </a:prstGeom>
          <a:solidFill>
            <a:srgbClr val="585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4400" y="1790700"/>
            <a:ext cx="13716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0.19776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400300"/>
            <a:ext cx="1905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202124"/>
                </a:solidFill>
                <a:latin typeface="Arial"/>
              </a:defRPr>
            </a:pPr>
            <a:r>
              <a:t>Stuff+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0500" y="2451100"/>
            <a:ext cx="3825569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4400" y="2387600"/>
            <a:ext cx="13716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0.19782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2997200"/>
            <a:ext cx="1905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202124"/>
                </a:solidFill>
                <a:latin typeface="Arial"/>
              </a:defRPr>
            </a:pPr>
            <a:r>
              <a:t>Pitching+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30500" y="3048000"/>
            <a:ext cx="3676081" cy="2286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4400" y="2984500"/>
            <a:ext cx="13716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0.19009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708400"/>
            <a:ext cx="8128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Pitching+: 3.88% menos RMSE frente al baseline por conteo.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4102100"/>
            <a:ext cx="8128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Preparación global. La validación inductiva sigue pendiente.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Las pérdidas dependen de la forma del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8128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50" b="0">
                <a:solidFill>
                  <a:srgbClr val="585B60"/>
                </a:solidFill>
                <a:latin typeface="Arial"/>
              </a:defRPr>
            </a:pPr>
            <a:r>
              <a:t>reports/altitude_delta/delta_by_shape.csv · delta_stuff; misma forma, CDMX menos nivel del mar.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03400"/>
            <a:ext cx="1905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202124"/>
                </a:solidFill>
                <a:latin typeface="Arial"/>
              </a:defRPr>
            </a:pPr>
            <a:r>
              <a:t>Sweeper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0500" y="1854200"/>
            <a:ext cx="1096715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4400" y="1790700"/>
            <a:ext cx="13716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-4.64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400300"/>
            <a:ext cx="1905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202124"/>
                </a:solidFill>
                <a:latin typeface="Arial"/>
              </a:defRPr>
            </a:pPr>
            <a:r>
              <a:t>Slider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0500" y="2451100"/>
            <a:ext cx="1711254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4400" y="2387600"/>
            <a:ext cx="13716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-7.24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2997200"/>
            <a:ext cx="1905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202124"/>
                </a:solidFill>
                <a:latin typeface="Arial"/>
              </a:defRPr>
            </a:pPr>
            <a:r>
              <a:t>4S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30500" y="3048000"/>
            <a:ext cx="2063432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4400" y="2984500"/>
            <a:ext cx="13716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-8.73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594100"/>
            <a:ext cx="1905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202124"/>
                </a:solidFill>
                <a:latin typeface="Arial"/>
              </a:defRPr>
            </a:pPr>
            <a:r>
              <a:t>Riding 4S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30500" y="3644900"/>
            <a:ext cx="3779414" cy="228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4400" y="3581400"/>
            <a:ext cx="13716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-15.99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4152900"/>
            <a:ext cx="8128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Longitud = pérdida; etiquetas = ΔStuff+. Ninguna forma gana en absoluto.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La resistencia varía entre arsenales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8128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50" b="0">
                <a:solidFill>
                  <a:srgbClr val="585B60"/>
                </a:solidFill>
                <a:latin typeface="Arial"/>
              </a:defRPr>
            </a:pPr>
            <a:r>
              <a:t>reports/pitcher_sensitivity/top15.csv; reports/pitcher_sensitivity/bottom15.csv · temporada 2025; estimaciones EB.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28800"/>
            <a:ext cx="3810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1">
                <a:solidFill>
                  <a:srgbClr val="202124"/>
                </a:solidFill>
                <a:latin typeface="Arial"/>
              </a:defRPr>
            </a:pPr>
            <a:r>
              <a:t>pitcher_01003 ·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273300"/>
            <a:ext cx="3810000" cy="8194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4800" b="1">
                <a:solidFill>
                  <a:srgbClr val="D71920"/>
                </a:solidFill>
                <a:latin typeface="Arial"/>
              </a:defRPr>
            </a:pPr>
            <a:r>
              <a:t>108.00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3073400"/>
            <a:ext cx="38100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0">
                <a:solidFill>
                  <a:srgbClr val="202124"/>
                </a:solidFill>
                <a:latin typeface="Arial"/>
              </a:defRPr>
            </a:pPr>
            <a:r>
              <a:t>Índice de resistencia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356864"/>
            <a:ext cx="38100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0">
                <a:solidFill>
                  <a:srgbClr val="202124"/>
                </a:solidFill>
                <a:latin typeface="Arial"/>
              </a:defRPr>
            </a:pPr>
            <a:r>
              <a:t>ΔStuff+ ajustado: -4.13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1828800"/>
            <a:ext cx="3810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1">
                <a:solidFill>
                  <a:srgbClr val="202124"/>
                </a:solidFill>
                <a:latin typeface="Arial"/>
              </a:defRPr>
            </a:pPr>
            <a:r>
              <a:t>pitcher_00529 ·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2273300"/>
            <a:ext cx="3810000" cy="8194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4800" b="1">
                <a:solidFill>
                  <a:srgbClr val="D71920"/>
                </a:solidFill>
                <a:latin typeface="Arial"/>
              </a:defRPr>
            </a:pPr>
            <a:r>
              <a:t>89.56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3073400"/>
            <a:ext cx="38100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0">
                <a:solidFill>
                  <a:srgbClr val="202124"/>
                </a:solidFill>
                <a:latin typeface="Arial"/>
              </a:defRPr>
            </a:pPr>
            <a:r>
              <a:t>Índice de resistencia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0" y="3356864"/>
            <a:ext cx="38100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0">
                <a:solidFill>
                  <a:srgbClr val="202124"/>
                </a:solidFill>
                <a:latin typeface="Arial"/>
              </a:defRPr>
            </a:pPr>
            <a:r>
              <a:t>ΔStuff+ ajustado: -22.57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4025900"/>
            <a:ext cx="8128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Ranking exploratorio. Identidades anónimas. EB reduce ruido de muestras.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El staff requiere confirmar la sede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8128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50" b="0">
                <a:solidFill>
                  <a:srgbClr val="585B60"/>
                </a:solidFill>
                <a:latin typeface="Arial"/>
              </a:defRPr>
            </a:pPr>
            <a:r>
              <a:t>reports/park_id/franchise_rho.csv; reports/park_id/harp_helu.md · identidad provisional.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28800"/>
            <a:ext cx="3810000" cy="4414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400" b="1">
                <a:solidFill>
                  <a:srgbClr val="202124"/>
                </a:solidFill>
                <a:latin typeface="Arial"/>
              </a:defRPr>
            </a:pPr>
            <a:r>
              <a:t>Franquicia 5: 0.821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206752"/>
            <a:ext cx="3810000" cy="4414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400" b="1">
                <a:solidFill>
                  <a:srgbClr val="202124"/>
                </a:solidFill>
                <a:latin typeface="Arial"/>
              </a:defRPr>
            </a:pPr>
            <a:r>
              <a:t>Franquicia 11: 0.813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997200"/>
            <a:ext cx="38100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0">
                <a:solidFill>
                  <a:srgbClr val="202124"/>
                </a:solidFill>
                <a:latin typeface="Arial"/>
              </a:defRPr>
            </a:pPr>
            <a:r>
              <a:t>Candidatos por densidad.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280664"/>
            <a:ext cx="38100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0">
                <a:solidFill>
                  <a:srgbClr val="202124"/>
                </a:solidFill>
                <a:latin typeface="Arial"/>
              </a:defRPr>
            </a:pPr>
            <a:r>
              <a:t>La identidad del Harp Helú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564128"/>
            <a:ext cx="38100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0">
                <a:solidFill>
                  <a:srgbClr val="202124"/>
                </a:solidFill>
                <a:latin typeface="Arial"/>
              </a:defRPr>
            </a:pPr>
            <a:r>
              <a:t>sigue sin verificarse.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1828800"/>
            <a:ext cx="3810000" cy="4099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200" b="1">
                <a:solidFill>
                  <a:srgbClr val="D71920"/>
                </a:solidFill>
                <a:latin typeface="Arial"/>
              </a:defRPr>
            </a:pPr>
            <a:r>
              <a:t>Antes de recomendar uso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2413000"/>
            <a:ext cx="3810000" cy="362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202124"/>
                </a:solidFill>
                <a:latin typeface="Arial"/>
              </a:defRPr>
            </a:pPr>
            <a:r>
              <a:t>Confirmar equipo y estadio.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0" y="2712212"/>
            <a:ext cx="3810000" cy="362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202124"/>
                </a:solidFill>
                <a:latin typeface="Arial"/>
              </a:defRPr>
            </a:pPr>
            <a:r>
              <a:t>Vincular arsenal por temporada.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3011424"/>
            <a:ext cx="3810000" cy="362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202124"/>
                </a:solidFill>
                <a:latin typeface="Arial"/>
              </a:defRPr>
            </a:pPr>
            <a:r>
              <a:t>Revisar el split casa y gira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0" y="3310636"/>
            <a:ext cx="3810000" cy="362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900" b="0">
                <a:solidFill>
                  <a:srgbClr val="202124"/>
                </a:solidFill>
                <a:latin typeface="Arial"/>
              </a:defRPr>
            </a:pPr>
            <a:r>
              <a:t>y su cobertura.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El prospecto comienza con un perfil físico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8128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50" b="0">
                <a:solidFill>
                  <a:srgbClr val="585B60"/>
                </a:solidFill>
                <a:latin typeface="Arial"/>
              </a:defRPr>
            </a:pPr>
            <a:r>
              <a:t>Contrato: docs/CONTRACT.md; stuffplus/schema.py. Flujo propuesto, sin evaluación real de prospectos.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28800"/>
            <a:ext cx="3556000" cy="4099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200" b="1">
                <a:solidFill>
                  <a:srgbClr val="D71920"/>
                </a:solidFill>
                <a:latin typeface="Arial"/>
              </a:defRPr>
            </a:pPr>
            <a:r>
              <a:t>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387600"/>
            <a:ext cx="3556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Velocidad y giro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702560"/>
            <a:ext cx="3556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Eje de giro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017520"/>
            <a:ext cx="3556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Punto de liberación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332479"/>
            <a:ext cx="3556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Extensión y uso del arsenal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1828800"/>
            <a:ext cx="3810000" cy="4099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200" b="1">
                <a:solidFill>
                  <a:srgbClr val="D71920"/>
                </a:solidFill>
                <a:latin typeface="Arial"/>
              </a:defRPr>
            </a:pPr>
            <a:r>
              <a:t>Discusión con scouting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2387600"/>
            <a:ext cx="3810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Cambio de movimiento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0" y="2702560"/>
            <a:ext cx="3810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Calidad en ambos ambientes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3017520"/>
            <a:ext cx="3810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Cobertura e incertidumbre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0" y="3332479"/>
            <a:ext cx="3810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Necesidades de desarrollo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4152900"/>
            <a:ext cx="8128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Evaluador y comparables pendientes. Este flujo no constituye un dictamen.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202124"/>
                </a:solidFill>
                <a:latin typeface="Arial"/>
              </a:defRPr>
            </a:pPr>
            <a:r>
              <a:t>El entorno cambia el valor de una carrera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8128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50" b="0">
                <a:solidFill>
                  <a:srgbClr val="585B60"/>
                </a:solidFill>
                <a:latin typeface="Arial"/>
              </a:defRPr>
            </a:pPr>
            <a:r>
              <a:t>reports/business_value/runs_per_win.csv · aproximación pitagórica; no proyección de ahorro del staff.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585B6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28800"/>
            <a:ext cx="3810000" cy="8981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5300" b="1">
                <a:solidFill>
                  <a:srgbClr val="D71920"/>
                </a:solidFill>
                <a:latin typeface="Arial"/>
              </a:defRPr>
            </a:pPr>
            <a:r>
              <a:t>11.79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743200"/>
            <a:ext cx="3810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Carreras por victoria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3058160"/>
            <a:ext cx="3810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Liga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0" y="1828800"/>
            <a:ext cx="3810000" cy="8981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5300" b="1">
                <a:solidFill>
                  <a:srgbClr val="D71920"/>
                </a:solidFill>
                <a:latin typeface="Arial"/>
              </a:defRPr>
            </a:pPr>
            <a:r>
              <a:t>14.33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2743200"/>
            <a:ext cx="3810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Carreras por victoria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3058160"/>
            <a:ext cx="3810000" cy="378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000" b="0">
                <a:solidFill>
                  <a:srgbClr val="202124"/>
                </a:solidFill>
                <a:latin typeface="Arial"/>
              </a:defRPr>
            </a:pPr>
            <a:r>
              <a:t>Altitud extrema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3835400"/>
            <a:ext cx="8128000" cy="346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El ahorro proyectado exige calibrar la escala del modelo final.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4216400"/>
            <a:ext cx="8128000" cy="283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400" b="0">
                <a:solidFill>
                  <a:srgbClr val="585B60"/>
                </a:solidFill>
                <a:latin typeface="Arial"/>
              </a:defRPr>
            </a:pPr>
            <a:r>
              <a:t>Las tablas de conversión Stuff+ actuales describen escenarios.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292100"/>
            <a:ext cx="533400" cy="508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203200"/>
            <a:ext cx="7239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ECEDEF"/>
                </a:solidFill>
                <a:latin typeface="Arial"/>
              </a:defRPr>
            </a:pPr>
            <a:r>
              <a:t>STUFF+ 2240 / DIABLOS ROJOS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47700"/>
            <a:ext cx="8128000" cy="469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La demo compara y explica el arsenal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95800"/>
            <a:ext cx="8128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850" b="0">
                <a:solidFill>
                  <a:srgbClr val="ECEDEF"/>
                </a:solidFill>
                <a:latin typeface="Arial"/>
              </a:defRPr>
            </a:pPr>
            <a:r>
              <a:t>Respaldo: reports/altitude_delta/ y reports/pitcher_sensitivity/. Integración de dashboard pendiente.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0" y="4813300"/>
            <a:ext cx="381000" cy="2209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000" b="0">
                <a:solidFill>
                  <a:srgbClr val="ECEDE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968500"/>
            <a:ext cx="81280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400" b="0">
                <a:solidFill>
                  <a:srgbClr val="FFFFFF"/>
                </a:solidFill>
                <a:latin typeface="Arial"/>
              </a:defRPr>
            </a:pPr>
            <a:r>
              <a:t>Comparar movimiento entre ambientes.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400300"/>
            <a:ext cx="81280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400" b="0">
                <a:solidFill>
                  <a:srgbClr val="FFFFFF"/>
                </a:solidFill>
                <a:latin typeface="Arial"/>
              </a:defRPr>
            </a:pPr>
            <a:r>
              <a:t>Revisar qué pitch impulsa la pérdida.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832100"/>
            <a:ext cx="81280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2400" b="0">
                <a:solidFill>
                  <a:srgbClr val="FFFFFF"/>
                </a:solidFill>
                <a:latin typeface="Arial"/>
              </a:defRPr>
            </a:pPr>
            <a:r>
              <a:t>Mostrar cobertura y límites del resultado.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708400"/>
            <a:ext cx="8128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ECEDEF"/>
                </a:solidFill>
                <a:latin typeface="Arial"/>
              </a:defRPr>
            </a:pPr>
            <a:r>
              <a:t>Respaldo offline: agregados y PDF de esta presentación.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976116"/>
            <a:ext cx="8128000" cy="331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1700" b="0">
                <a:solidFill>
                  <a:srgbClr val="ECEDEF"/>
                </a:solidFill>
                <a:latin typeface="Arial"/>
              </a:defRPr>
            </a:pPr>
            <a:r>
              <a:t>La recomendación final requiere validar y confirmar el staff.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