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s. Problema: un buen arsenal a nivel del mar puede cambiar en casa. Proponemos comparar la misma forma de lanzamiento bajo dos ambientes. Abrir con una decisión del coach, sin prometer superioridad predictiva.</a:t>
            </a:r>
          </a:p>
          <a:p>
            <a:r>
              <a:t>Fuentes: Fuente: reports/altitude_delta/delta_by_shape.csv. Estimaciones exploratorias.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Mostrar densidad relativa estimada. Son grupos de altitud y la identidad exacta del Harp Helú aún no está verificada. Los valores no prueban por sí solos una relación causal.</a:t>
            </a:r>
          </a:p>
          <a:p>
            <a:r>
              <a:t>Fuentes: reports/physics/rho_by_bucket.csv · media por bucket; parques anónimos.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Separar observación y contrafactual: el primer valor compara Extreme menos No dentro de lanzador; el segundo mueve la misma forma 4S a aire de Harp Helú frente a nivel del mar. La concordancia describe un mecanismo, no identifica causalidad.</a:t>
            </a:r>
          </a:p>
          <a:p>
            <a:r>
              <a:t>Fuentes: reports/physics/delta_extreme_vs_no.csv · Four-Seam/ivb; reports/altitude_delta/delta_by_shape.csv · 4S.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75 s. Skill es la fracción de RMSE que el modelo le quita al baseline por conteo. Pitching+ se mantiene en k-fold de pitcher, holdout de parque y holdout de temporada. Stuff+ no mejora ese baseline. Los rasgos se armaron con toda la muestra: es evidencia exploratoria, no un pronóstico ciego. No citar validation/demo.</a:t>
            </a:r>
          </a:p>
          <a:p>
            <a:r>
              <a:t>Fuentes: reports/validation/headline.csv · skill frente al baseline por conteo.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65 s. Barras muestran magnitud de pérdida: ninguna forma del cuadro gana en términos absolutos. Sweeper pierde menos que riding 4S. Es una hipótesis operativa para discutir, condicionada al modelo y a la física.</a:t>
            </a:r>
          </a:p>
          <a:p>
            <a:r>
              <a:t>Fuentes: reports/altitude_delta/delta_by_shape.csv · delta_stuff; misma forma, CDMX menos nivel del 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65 s. Comparar la misma temporada. Índice centrado en 100: resistencia relativa a la liga, no percentil. Ambos pierden puntos absolutos. Los intervalos condicionan física, modelo, prior, baseline y uso. No miden certeza de rango ni garantizan desempeño futuro.</a:t>
            </a:r>
          </a:p>
          <a:p>
            <a:r>
              <a:t>Fuentes: reports/pitcher_sensitivity/top15.csv; reports/pitcher_sensitivity/bottom15.csv · temporada 2025; estimaciones 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s. Leer cada franquicia sola. Son los dos candidatos por densidad, no un staff confirmado de Diablos. Las carreras salen del modelo: mezcla de lanzamientos en casa más reasignación de aperturas. No sumar 5 y 11. No nombrar al club hasta que el staff confirme la sede.</a:t>
            </a:r>
          </a:p>
          <a:p>
            <a:r>
              <a:t>Fuentes: reports/staff_audit/runs_saved.csv · franquicias 5 y 11, por separado.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s. El perfilador toma de 2 a 5 lanzamientos y devuelve Stuff+ neutral y en el Harp Helú, comparables anónimos y un veredicto: Firmar, Desarrollar o Evitar para casa. Esta lámina no evalúa a una persona: muestra la recta de referencia que mejor rankea en ese aire. No pagar por ride de nivel del mar.</a:t>
            </a:r>
          </a:p>
          <a:p>
            <a:r>
              <a:t>Fuentes: reports/ideal_profile/best_fastballs.csv · recta de rango 1 por Stuff+ en el Harp Helú.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65 s. Carreras por victoria: liga contra el bucket Extreme. En altura cada carrera vale menos victorias. La escala es carreras por punto de Stuff+ y por lanzamiento, ajustada fuera de muestra. Un salto de muchos puntos en todo el arsenal es un escenario, no el ahorro del staff de la lámina anterior.</a:t>
            </a:r>
          </a:p>
          <a:p>
            <a:r>
              <a:t>Fuentes: reports/business_value/runs_per_win.csv; reports/business_value/runs_per_point_direct.csv · Stuff+, rv_x, fuera de muestra.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 s. Abrir el simulador con una forma y dos densidades. Pasar al leaderboard anónimo y al mapa de altitud. Si la red o el deploy fallan, quedarse en este PDF y en los CSV agregados. Cerrar confirmando que las franquicias 5 y 11 no se suman y que la sede no está confirmada.</a:t>
            </a:r>
          </a:p>
          <a:p>
            <a:r>
              <a:t>Fuentes: Dashboard en el repo. Respaldo: reports/altitude_delta/ y este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El mismo arsenal cambia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1054100"/>
            <a:ext cx="8128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en el aire de CDMX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4495800"/>
            <a:ext cx="8128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50" b="0">
                <a:solidFill>
                  <a:srgbClr val="ECEDEF"/>
                </a:solidFill>
                <a:latin typeface="Arial"/>
              </a:defRPr>
            </a:pPr>
            <a:r>
              <a:t>Fuente: reports/altitude_delta/delta_by_shape.csv. Estimaciones exploratorias.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032000"/>
            <a:ext cx="8128000" cy="4099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200" b="0">
                <a:solidFill>
                  <a:srgbClr val="FFFFFF"/>
                </a:solidFill>
                <a:latin typeface="Arial"/>
              </a:defRPr>
            </a:pPr>
            <a:r>
              <a:t>Comparación física y estadística para discutir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378456"/>
            <a:ext cx="8128000" cy="4099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200" b="0">
                <a:solidFill>
                  <a:srgbClr val="FFFFFF"/>
                </a:solidFill>
                <a:latin typeface="Arial"/>
              </a:defRPr>
            </a:pPr>
            <a:r>
              <a:t>el uso del arsenal y la evaluación de lanzadores.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3314700"/>
            <a:ext cx="8128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ECEDEF"/>
                </a:solidFill>
                <a:latin typeface="Arial"/>
              </a:defRPr>
            </a:pPr>
            <a:r>
              <a:t>Documento para entrevista. Datos oficiales agregados.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3582416"/>
            <a:ext cx="8128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ECEDEF"/>
                </a:solidFill>
                <a:latin typeface="Arial"/>
              </a:defRPr>
            </a:pPr>
            <a:r>
              <a:t>La sede del staff sigue sin confirmarse.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202124"/>
                </a:solidFill>
                <a:latin typeface="Arial"/>
              </a:defRPr>
            </a:pPr>
            <a:r>
              <a:t>El aire estimado cambia entre ambientes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8128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50" b="0">
                <a:solidFill>
                  <a:srgbClr val="585B60"/>
                </a:solidFill>
                <a:latin typeface="Arial"/>
              </a:defRPr>
            </a:pPr>
            <a:r>
              <a:t>reports/physics/rho_by_bucket.csv · media por bucket; parques anónimos.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879600"/>
            <a:ext cx="1905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202124"/>
                </a:solidFill>
                <a:latin typeface="Arial"/>
              </a:defRPr>
            </a:pPr>
            <a:r>
              <a:t>Nivel del mar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0500" y="1930400"/>
            <a:ext cx="3871594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4400" y="1866900"/>
            <a:ext cx="13716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1.001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616200"/>
            <a:ext cx="1905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202124"/>
                </a:solidFill>
                <a:latin typeface="Arial"/>
              </a:defRPr>
            </a:pPr>
            <a:r>
              <a:t>Altitud media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30500" y="2667000"/>
            <a:ext cx="3450012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4400" y="2603500"/>
            <a:ext cx="13716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0.892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3352800"/>
            <a:ext cx="1905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202124"/>
                </a:solidFill>
                <a:latin typeface="Arial"/>
              </a:defRPr>
            </a:pPr>
            <a:r>
              <a:t>Altitud extrema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30500" y="3403600"/>
            <a:ext cx="3252758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4400" y="3340100"/>
            <a:ext cx="13716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0.841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4025900"/>
            <a:ext cx="8128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Densidad relativa: menor valor significa aire menos denso.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202124"/>
                </a:solidFill>
                <a:latin typeface="Arial"/>
              </a:defRPr>
            </a:pPr>
            <a:r>
              <a:t>La recta pierde movimiento vertical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8128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50" b="0">
                <a:solidFill>
                  <a:srgbClr val="585B60"/>
                </a:solidFill>
                <a:latin typeface="Arial"/>
              </a:defRPr>
            </a:pPr>
            <a:r>
              <a:t>reports/physics/delta_extreme_vs_no.csv · Four-Seam/ivb; reports/altitude_delta/delta_by_shape.csv · 4S.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917700"/>
            <a:ext cx="3556000" cy="929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5500" b="1">
                <a:solidFill>
                  <a:srgbClr val="D71920"/>
                </a:solidFill>
                <a:latin typeface="Arial"/>
              </a:defRPr>
            </a:pPr>
            <a:r>
              <a:t>-3.54"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857500"/>
            <a:ext cx="3619500" cy="362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202124"/>
                </a:solidFill>
                <a:latin typeface="Arial"/>
              </a:defRPr>
            </a:pPr>
            <a:r>
              <a:t>Contraste observado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3156712"/>
            <a:ext cx="3619500" cy="362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202124"/>
                </a:solidFill>
                <a:latin typeface="Arial"/>
              </a:defRPr>
            </a:pPr>
            <a:r>
              <a:t>Extreme menos 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6000" y="1917700"/>
            <a:ext cx="3810000" cy="9296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5500" b="1">
                <a:solidFill>
                  <a:srgbClr val="D71920"/>
                </a:solidFill>
                <a:latin typeface="Arial"/>
              </a:defRPr>
            </a:pPr>
            <a:r>
              <a:t>-3.56"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0" y="2857500"/>
            <a:ext cx="3810000" cy="362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202124"/>
                </a:solidFill>
                <a:latin typeface="Arial"/>
              </a:defRPr>
            </a:pPr>
            <a:r>
              <a:t>Cambio físico modelado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0" y="3156712"/>
            <a:ext cx="3810000" cy="3627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900" b="0">
                <a:solidFill>
                  <a:srgbClr val="202124"/>
                </a:solidFill>
                <a:latin typeface="Arial"/>
              </a:defRPr>
            </a:pPr>
            <a:r>
              <a:t>CDMX menos nivel del mar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4025900"/>
            <a:ext cx="8128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IVB: movimiento vertical inducido. Comparaciones exploratorias.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202124"/>
                </a:solidFill>
                <a:latin typeface="Arial"/>
              </a:defRPr>
            </a:pPr>
            <a:r>
              <a:t>Pitching+ se sostiene fuera de muestra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8128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50" b="0">
                <a:solidFill>
                  <a:srgbClr val="585B60"/>
                </a:solidFill>
                <a:latin typeface="Arial"/>
              </a:defRPr>
            </a:pPr>
            <a:r>
              <a:t>reports/validation/headline.csv · skill frente al baseline por conteo.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803400"/>
            <a:ext cx="1905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202124"/>
                </a:solidFill>
                <a:latin typeface="Arial"/>
              </a:defRPr>
            </a:pPr>
            <a:r>
              <a:t>Pitcher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0500" y="1854200"/>
            <a:ext cx="3301491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4400" y="1790700"/>
            <a:ext cx="13716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3.88%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400300"/>
            <a:ext cx="1905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202124"/>
                </a:solidFill>
                <a:latin typeface="Arial"/>
              </a:defRPr>
            </a:pPr>
            <a:r>
              <a:t>Parque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30500" y="2451100"/>
            <a:ext cx="2790951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4400" y="2387600"/>
            <a:ext cx="13716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3.28%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2997200"/>
            <a:ext cx="1905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202124"/>
                </a:solidFill>
                <a:latin typeface="Arial"/>
              </a:defRPr>
            </a:pPr>
            <a:r>
              <a:t>Temporada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30500" y="3048000"/>
            <a:ext cx="3182366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4400" y="2984500"/>
            <a:ext cx="13716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3.74%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70840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1">
                <a:solidFill>
                  <a:srgbClr val="202124"/>
                </a:solidFill>
                <a:latin typeface="Arial"/>
              </a:defRPr>
            </a:pPr>
            <a:r>
              <a:t>Pitching+: % de RMSE que baja frente al baseline por conteo.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4064000"/>
            <a:ext cx="8128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Stuff+ en k-fold de pitcher: -0.03%. No mejora ese baseline.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202124"/>
                </a:solidFill>
                <a:latin typeface="Arial"/>
              </a:defRPr>
            </a:pPr>
            <a:r>
              <a:t>Las pérdidas dependen de la forma del pitch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8128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50" b="0">
                <a:solidFill>
                  <a:srgbClr val="585B60"/>
                </a:solidFill>
                <a:latin typeface="Arial"/>
              </a:defRPr>
            </a:pPr>
            <a:r>
              <a:t>reports/altitude_delta/delta_by_shape.csv · delta_stuff; misma forma, CDMX menos nivel del mar.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803400"/>
            <a:ext cx="1905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202124"/>
                </a:solidFill>
                <a:latin typeface="Arial"/>
              </a:defRPr>
            </a:pPr>
            <a:r>
              <a:t>Sweeper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0500" y="1854200"/>
            <a:ext cx="1096715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64400" y="1790700"/>
            <a:ext cx="13716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-4.64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400300"/>
            <a:ext cx="1905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202124"/>
                </a:solidFill>
                <a:latin typeface="Arial"/>
              </a:defRPr>
            </a:pPr>
            <a:r>
              <a:t>Slider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30500" y="2451100"/>
            <a:ext cx="1711254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4400" y="2387600"/>
            <a:ext cx="13716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-7.24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2997200"/>
            <a:ext cx="1905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202124"/>
                </a:solidFill>
                <a:latin typeface="Arial"/>
              </a:defRPr>
            </a:pPr>
            <a:r>
              <a:t>4S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30500" y="3048000"/>
            <a:ext cx="2063432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4400" y="2984500"/>
            <a:ext cx="13716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-8.73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594100"/>
            <a:ext cx="1905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202124"/>
                </a:solidFill>
                <a:latin typeface="Arial"/>
              </a:defRPr>
            </a:pPr>
            <a:r>
              <a:t>Riding 4S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30500" y="3644900"/>
            <a:ext cx="3779414" cy="2286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4400" y="3581400"/>
            <a:ext cx="13716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202124"/>
                </a:solidFill>
                <a:latin typeface="Arial"/>
              </a:defRPr>
            </a:pPr>
            <a:r>
              <a:t>-15.99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000" y="4152900"/>
            <a:ext cx="8128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Longitud = pérdida; etiquetas = ΔStuff+. Ninguna forma gana en absoluto.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202124"/>
                </a:solidFill>
                <a:latin typeface="Arial"/>
              </a:defRPr>
            </a:pPr>
            <a:r>
              <a:t>La resistencia varía entre arsenales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8128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50" b="0">
                <a:solidFill>
                  <a:srgbClr val="585B60"/>
                </a:solidFill>
                <a:latin typeface="Arial"/>
              </a:defRPr>
            </a:pPr>
            <a:r>
              <a:t>reports/pitcher_sensitivity/top15.csv; reports/pitcher_sensitivity/bottom15.csv · temporada 2025; estimaciones EB.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828800"/>
            <a:ext cx="3810000" cy="378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pitcher_01003 ·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273300"/>
            <a:ext cx="3810000" cy="8194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800" b="1">
                <a:solidFill>
                  <a:srgbClr val="D71920"/>
                </a:solidFill>
                <a:latin typeface="Arial"/>
              </a:defRPr>
            </a:pPr>
            <a:r>
              <a:t>108.00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3073400"/>
            <a:ext cx="38100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202124"/>
                </a:solidFill>
                <a:latin typeface="Arial"/>
              </a:defRPr>
            </a:pPr>
            <a:r>
              <a:t>Índice de resistencia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3356864"/>
            <a:ext cx="38100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202124"/>
                </a:solidFill>
                <a:latin typeface="Arial"/>
              </a:defRPr>
            </a:pPr>
            <a:r>
              <a:t>ΔStuff+ ajustado: -4.13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0" y="1828800"/>
            <a:ext cx="3810000" cy="3784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000" b="1">
                <a:solidFill>
                  <a:srgbClr val="202124"/>
                </a:solidFill>
                <a:latin typeface="Arial"/>
              </a:defRPr>
            </a:pPr>
            <a:r>
              <a:t>pitcher_00529 ·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0" y="2273300"/>
            <a:ext cx="3810000" cy="8194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800" b="1">
                <a:solidFill>
                  <a:srgbClr val="D71920"/>
                </a:solidFill>
                <a:latin typeface="Arial"/>
              </a:defRPr>
            </a:pPr>
            <a:r>
              <a:t>89.56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6000" y="3073400"/>
            <a:ext cx="38100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202124"/>
                </a:solidFill>
                <a:latin typeface="Arial"/>
              </a:defRPr>
            </a:pPr>
            <a:r>
              <a:t>Índice de resistencia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6000" y="3356864"/>
            <a:ext cx="38100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202124"/>
                </a:solidFill>
                <a:latin typeface="Arial"/>
              </a:defRPr>
            </a:pPr>
            <a:r>
              <a:t>ΔStuff+ ajustado: -22.57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4025900"/>
            <a:ext cx="8128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Ranking exploratorio. Identidades anónimas. EB reduce ruido de muestras.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202124"/>
                </a:solidFill>
                <a:latin typeface="Arial"/>
              </a:defRPr>
            </a:pPr>
            <a:r>
              <a:t>Dos sedes, dos cuentas de carreras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8128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50" b="0">
                <a:solidFill>
                  <a:srgbClr val="585B60"/>
                </a:solidFill>
                <a:latin typeface="Arial"/>
              </a:defRPr>
            </a:pPr>
            <a:r>
              <a:t>reports/staff_audit/runs_saved.csv · franquicias 5 y 11, por separado.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752600"/>
            <a:ext cx="38100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D71920"/>
                </a:solidFill>
                <a:latin typeface="Arial"/>
              </a:defRPr>
            </a:pPr>
            <a:r>
              <a:t>Franquicia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108200"/>
            <a:ext cx="3810000" cy="5674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200" b="1">
                <a:solidFill>
                  <a:srgbClr val="D71920"/>
                </a:solidFill>
                <a:latin typeface="Arial"/>
              </a:defRPr>
            </a:pPr>
            <a:r>
              <a:t>4.37 carreras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616200"/>
            <a:ext cx="3810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202124"/>
                </a:solidFill>
                <a:latin typeface="Arial"/>
              </a:defRPr>
            </a:pPr>
            <a:r>
              <a:t>0.30 victorias por temporada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2971800"/>
            <a:ext cx="381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585B60"/>
                </a:solidFill>
                <a:latin typeface="Arial"/>
              </a:defRPr>
            </a:pPr>
            <a:r>
              <a:t>Mezcla 3.02 · aperturas 1.35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0" y="1752600"/>
            <a:ext cx="38100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1">
                <a:solidFill>
                  <a:srgbClr val="D71920"/>
                </a:solidFill>
                <a:latin typeface="Arial"/>
              </a:defRPr>
            </a:pPr>
            <a:r>
              <a:t>Franquicia 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0" y="2108200"/>
            <a:ext cx="3810000" cy="5674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3200" b="1">
                <a:solidFill>
                  <a:srgbClr val="D71920"/>
                </a:solidFill>
                <a:latin typeface="Arial"/>
              </a:defRPr>
            </a:pPr>
            <a:r>
              <a:t>3.22 carreras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6000" y="2616200"/>
            <a:ext cx="3810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202124"/>
                </a:solidFill>
                <a:latin typeface="Arial"/>
              </a:defRPr>
            </a:pPr>
            <a:r>
              <a:t>0.23 victorias por temporada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6000" y="2971800"/>
            <a:ext cx="3810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585B60"/>
                </a:solidFill>
                <a:latin typeface="Arial"/>
              </a:defRPr>
            </a:pPr>
            <a:r>
              <a:t>Mezcla 1.22 · aperturas 2.01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000" y="3784600"/>
            <a:ext cx="8128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202124"/>
                </a:solidFill>
                <a:latin typeface="Arial"/>
              </a:defRPr>
            </a:pPr>
            <a:r>
              <a:t>Por temporada, según el modelo. No se suman.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4036567"/>
            <a:ext cx="8128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202124"/>
                </a:solidFill>
                <a:latin typeface="Arial"/>
              </a:defRPr>
            </a:pPr>
            <a:r>
              <a:t>La sede sigue sin confirmarse.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202124"/>
                </a:solidFill>
                <a:latin typeface="Arial"/>
              </a:defRPr>
            </a:pPr>
            <a:r>
              <a:t>El prospecto se mide en el aire de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8128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50" b="0">
                <a:solidFill>
                  <a:srgbClr val="585B60"/>
                </a:solidFill>
                <a:latin typeface="Arial"/>
              </a:defRPr>
            </a:pPr>
            <a:r>
              <a:t>reports/ideal_profile/best_fastballs.csv · recta de rango 1 por Stuff+ en el Harp Helú.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828800"/>
            <a:ext cx="3556000" cy="8823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5200" b="1">
                <a:solidFill>
                  <a:srgbClr val="D71920"/>
                </a:solidFill>
                <a:latin typeface="Arial"/>
              </a:defRPr>
            </a:pPr>
            <a:r>
              <a:t>108.2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692400"/>
            <a:ext cx="35560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202124"/>
                </a:solidFill>
                <a:latin typeface="Arial"/>
              </a:defRPr>
            </a:pPr>
            <a:r>
              <a:t>Stuff+ en el Harp Helú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975864"/>
            <a:ext cx="35560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202124"/>
                </a:solidFill>
                <a:latin typeface="Arial"/>
              </a:defRPr>
            </a:pPr>
            <a:r>
              <a:t>Recta de referencia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6000" y="1828800"/>
            <a:ext cx="3556000" cy="8823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5200" b="1">
                <a:solidFill>
                  <a:srgbClr val="D71920"/>
                </a:solidFill>
                <a:latin typeface="Arial"/>
              </a:defRPr>
            </a:pPr>
            <a:r>
              <a:t>115.5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6000" y="2692400"/>
            <a:ext cx="35560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202124"/>
                </a:solidFill>
                <a:latin typeface="Arial"/>
              </a:defRPr>
            </a:pPr>
            <a:r>
              <a:t>Stuff+ a nivel del mar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0" y="2975864"/>
            <a:ext cx="3556000" cy="3469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800" b="0">
                <a:solidFill>
                  <a:srgbClr val="202124"/>
                </a:solidFill>
                <a:latin typeface="Arial"/>
              </a:defRPr>
            </a:pPr>
            <a:r>
              <a:t>La misma recta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000" y="3937000"/>
            <a:ext cx="8128000" cy="299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500" b="0">
                <a:solidFill>
                  <a:srgbClr val="585B60"/>
                </a:solidFill>
                <a:latin typeface="Arial"/>
              </a:defRPr>
            </a:pPr>
            <a:r>
              <a:t>El perfilador compara el arsenal en los dos aires. Esto no es un dictamen con nombre.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202124"/>
                </a:solidFill>
                <a:latin typeface="Arial"/>
              </a:defRPr>
            </a:pPr>
            <a:r>
              <a:t>El entorno cambia el valor de una carrera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8128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50" b="0">
                <a:solidFill>
                  <a:srgbClr val="585B60"/>
                </a:solidFill>
                <a:latin typeface="Arial"/>
              </a:defRPr>
            </a:pPr>
            <a:r>
              <a:t>reports/business_value/runs_per_win.csv; reports/business_value/runs_per_point_direct.csv · Stuff+, rv_x, fuera de muestra.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585B60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752600"/>
            <a:ext cx="2540000" cy="7879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600" b="1">
                <a:solidFill>
                  <a:srgbClr val="D71920"/>
                </a:solidFill>
                <a:latin typeface="Arial"/>
              </a:defRPr>
            </a:pPr>
            <a:r>
              <a:t>11.79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489200"/>
            <a:ext cx="2540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202124"/>
                </a:solidFill>
                <a:latin typeface="Arial"/>
              </a:defRPr>
            </a:pPr>
            <a:r>
              <a:t>Carreras por victoria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741168"/>
            <a:ext cx="2540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202124"/>
                </a:solidFill>
                <a:latin typeface="Arial"/>
              </a:defRPr>
            </a:pPr>
            <a:r>
              <a:t>Liga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5000" y="1752600"/>
            <a:ext cx="2540000" cy="7879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4600" b="1">
                <a:solidFill>
                  <a:srgbClr val="D71920"/>
                </a:solidFill>
                <a:latin typeface="Arial"/>
              </a:defRPr>
            </a:pPr>
            <a:r>
              <a:t>14.33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5000" y="2489200"/>
            <a:ext cx="2667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202124"/>
                </a:solidFill>
                <a:latin typeface="Arial"/>
              </a:defRPr>
            </a:pPr>
            <a:r>
              <a:t>Carreras por victoria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75000" y="2741168"/>
            <a:ext cx="2667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202124"/>
                </a:solidFill>
                <a:latin typeface="Arial"/>
              </a:defRPr>
            </a:pPr>
            <a:r>
              <a:t>Altitud extrema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3000" y="1752600"/>
            <a:ext cx="2413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D71920"/>
                </a:solidFill>
                <a:latin typeface="Arial"/>
              </a:defRPr>
            </a:pPr>
            <a:r>
              <a:t>0.000724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000" y="2489200"/>
            <a:ext cx="2413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202124"/>
                </a:solidFill>
                <a:latin typeface="Arial"/>
              </a:defRPr>
            </a:pPr>
            <a:r>
              <a:t>Carreras por punto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3000" y="2741168"/>
            <a:ext cx="2413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0">
                <a:solidFill>
                  <a:srgbClr val="202124"/>
                </a:solidFill>
                <a:latin typeface="Arial"/>
              </a:defRPr>
            </a:pPr>
            <a:r>
              <a:t>de Stuff+ y lanzamiento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3683000"/>
            <a:ext cx="8128000" cy="31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600" b="1">
                <a:solidFill>
                  <a:srgbClr val="202124"/>
                </a:solidFill>
                <a:latin typeface="Arial"/>
              </a:defRPr>
            </a:pPr>
            <a:r>
              <a:t>Escala fuera de muestra. +10 puntos en todo el arsenal es un escenario.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4064000"/>
            <a:ext cx="8128000" cy="2839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400" b="0">
                <a:solidFill>
                  <a:srgbClr val="585B60"/>
                </a:solidFill>
                <a:latin typeface="Arial"/>
              </a:defRPr>
            </a:pPr>
            <a:r>
              <a:t>El ahorro del staff está en la lámina anterior, por franquicia.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8000" y="292100"/>
            <a:ext cx="533400" cy="508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06500" y="203200"/>
            <a:ext cx="7239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STUFF+ 2240 / DIABLOS ROJOS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647700"/>
            <a:ext cx="8128000" cy="469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La demo compara el mismo arsenal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4495800"/>
            <a:ext cx="8128000" cy="20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850" b="0">
                <a:solidFill>
                  <a:srgbClr val="ECEDEF"/>
                </a:solidFill>
                <a:latin typeface="Arial"/>
              </a:defRPr>
            </a:pPr>
            <a:r>
              <a:t>Dashboard en el repo. Respaldo: reports/altitude_delta/ y este PDF.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0" y="4813300"/>
            <a:ext cx="381000" cy="2209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000" b="0">
                <a:solidFill>
                  <a:srgbClr val="ECEDE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1968500"/>
            <a:ext cx="8128000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400" b="0">
                <a:solidFill>
                  <a:srgbClr val="FFFFFF"/>
                </a:solidFill>
                <a:latin typeface="Arial"/>
              </a:defRPr>
            </a:pPr>
            <a:r>
              <a:t>Simulador: la misma forma, dos aires.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2400300"/>
            <a:ext cx="8128000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400" b="0">
                <a:solidFill>
                  <a:srgbClr val="FFFFFF"/>
                </a:solidFill>
                <a:latin typeface="Arial"/>
              </a:defRPr>
            </a:pPr>
            <a:r>
              <a:t>Leaderboard: arsenales anónimos.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832100"/>
            <a:ext cx="8128000" cy="495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2400" b="0">
                <a:solidFill>
                  <a:srgbClr val="FFFFFF"/>
                </a:solidFill>
                <a:latin typeface="Arial"/>
              </a:defRPr>
            </a:pPr>
            <a:r>
              <a:t>Mapa: dónde se pierde el movimiento.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3708400"/>
            <a:ext cx="8128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ECEDEF"/>
                </a:solidFill>
                <a:latin typeface="Arial"/>
              </a:defRPr>
            </a:pPr>
            <a:r>
              <a:t>Respaldo offline: este PDF y los CSV agregados.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000" y="3976116"/>
            <a:ext cx="8128000" cy="3312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defRPr sz="1700" b="0">
                <a:solidFill>
                  <a:srgbClr val="ECEDEF"/>
                </a:solidFill>
                <a:latin typeface="Arial"/>
              </a:defRPr>
            </a:pPr>
            <a:r>
              <a:t>La sede del staff sigue sin confirmarse.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